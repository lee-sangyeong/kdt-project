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5" roundtripDataSignature="AMtx7mhZk6mUR+5vMCak+rzn6ivyhbvP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Relationship Id="rId4" Type="http://schemas.openxmlformats.org/officeDocument/2006/relationships/image" Target="../media/image28.png"/><Relationship Id="rId5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0D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940929" y="7811686"/>
            <a:ext cx="5269835" cy="1083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4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최규성 박영현 이상영 최혜원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3792549" y="2056036"/>
            <a:ext cx="10702901" cy="477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올림픽 개최국의 메달 점유율과</a:t>
            </a:r>
            <a:endParaRPr/>
          </a:p>
          <a:p>
            <a:pPr indent="0" lvl="0" marL="0" marR="0" rtl="0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경제 성과 분석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5766421" y="1362843"/>
            <a:ext cx="6755159" cy="43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3D415C"/>
                </a:solidFill>
                <a:latin typeface="Arial"/>
                <a:ea typeface="Arial"/>
                <a:cs typeface="Arial"/>
                <a:sym typeface="Arial"/>
              </a:rPr>
              <a:t>KDT AI 빅데이터 전문가 양성과정 12기</a:t>
            </a:r>
            <a:endParaRPr/>
          </a:p>
        </p:txBody>
      </p:sp>
      <p:cxnSp>
        <p:nvCxnSpPr>
          <p:cNvPr id="87" name="Google Shape;87;p1"/>
          <p:cNvCxnSpPr/>
          <p:nvPr/>
        </p:nvCxnSpPr>
        <p:spPr>
          <a:xfrm rot="10800000">
            <a:off x="740032" y="430923"/>
            <a:ext cx="0" cy="9425155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1"/>
          <p:cNvSpPr txBox="1"/>
          <p:nvPr/>
        </p:nvSpPr>
        <p:spPr>
          <a:xfrm>
            <a:off x="1940929" y="7304311"/>
            <a:ext cx="3948584" cy="10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4조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 rot="-5400000">
            <a:off x="-1309074" y="7638261"/>
            <a:ext cx="3614341" cy="581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데이터 시각화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6E727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0D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1761915" y="1050735"/>
            <a:ext cx="3301044" cy="1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1805689" y="2269885"/>
            <a:ext cx="3213496" cy="438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 rot="-5400000">
            <a:off x="-1309074" y="2210836"/>
            <a:ext cx="3614341" cy="29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2030.10.1</a:t>
            </a:r>
            <a:endParaRPr/>
          </a:p>
        </p:txBody>
      </p:sp>
      <p:cxnSp>
        <p:nvCxnSpPr>
          <p:cNvPr id="97" name="Google Shape;97;p2"/>
          <p:cNvCxnSpPr/>
          <p:nvPr/>
        </p:nvCxnSpPr>
        <p:spPr>
          <a:xfrm rot="10800000">
            <a:off x="740032" y="430923"/>
            <a:ext cx="0" cy="9425155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2"/>
          <p:cNvSpPr txBox="1"/>
          <p:nvPr/>
        </p:nvSpPr>
        <p:spPr>
          <a:xfrm>
            <a:off x="12208798" y="4051360"/>
            <a:ext cx="4868848" cy="542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프로젝트 개요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11410428" y="3927518"/>
            <a:ext cx="1017215" cy="733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12208798" y="6426820"/>
            <a:ext cx="4868848" cy="542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결론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1410428" y="6302978"/>
            <a:ext cx="1017215" cy="733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12208798" y="4843180"/>
            <a:ext cx="4868848" cy="542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올림픽 개최국별 메달 점유율 비교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1410428" y="4719338"/>
            <a:ext cx="1017215" cy="733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12208798" y="5635000"/>
            <a:ext cx="4868848" cy="542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올림픽 상대 연도 기준 GDP 성장률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11410428" y="5511158"/>
            <a:ext cx="1017215" cy="733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cxnSp>
        <p:nvCxnSpPr>
          <p:cNvPr id="106" name="Google Shape;106;p2"/>
          <p:cNvCxnSpPr/>
          <p:nvPr/>
        </p:nvCxnSpPr>
        <p:spPr>
          <a:xfrm>
            <a:off x="11177715" y="4809202"/>
            <a:ext cx="6081585" cy="0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2"/>
          <p:cNvCxnSpPr/>
          <p:nvPr/>
        </p:nvCxnSpPr>
        <p:spPr>
          <a:xfrm>
            <a:off x="11177715" y="5601022"/>
            <a:ext cx="6081585" cy="0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2"/>
          <p:cNvCxnSpPr/>
          <p:nvPr/>
        </p:nvCxnSpPr>
        <p:spPr>
          <a:xfrm>
            <a:off x="11177715" y="6392842"/>
            <a:ext cx="6081585" cy="0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2"/>
          <p:cNvSpPr txBox="1"/>
          <p:nvPr/>
        </p:nvSpPr>
        <p:spPr>
          <a:xfrm rot="-5400000">
            <a:off x="-1309074" y="7638261"/>
            <a:ext cx="3614341" cy="581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데이터 시각화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6E727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0D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" name="Google Shape;114;p3"/>
          <p:cNvCxnSpPr/>
          <p:nvPr/>
        </p:nvCxnSpPr>
        <p:spPr>
          <a:xfrm rot="10800000">
            <a:off x="740032" y="430923"/>
            <a:ext cx="0" cy="9425155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5" name="Google Shape;115;p3"/>
          <p:cNvGrpSpPr/>
          <p:nvPr/>
        </p:nvGrpSpPr>
        <p:grpSpPr>
          <a:xfrm>
            <a:off x="1823426" y="2712187"/>
            <a:ext cx="4840491" cy="6546113"/>
            <a:chOff x="0" y="-38100"/>
            <a:chExt cx="1274862" cy="1724079"/>
          </a:xfrm>
        </p:grpSpPr>
        <p:sp>
          <p:nvSpPr>
            <p:cNvPr id="116" name="Google Shape;116;p3"/>
            <p:cNvSpPr/>
            <p:nvPr/>
          </p:nvSpPr>
          <p:spPr>
            <a:xfrm>
              <a:off x="0" y="0"/>
              <a:ext cx="1274862" cy="1685979"/>
            </a:xfrm>
            <a:custGeom>
              <a:rect b="b" l="l" r="r" t="t"/>
              <a:pathLst>
                <a:path extrusionOk="0" h="1685979" w="1274862">
                  <a:moveTo>
                    <a:pt x="0" y="0"/>
                  </a:moveTo>
                  <a:lnTo>
                    <a:pt x="1274862" y="0"/>
                  </a:lnTo>
                  <a:lnTo>
                    <a:pt x="1274862" y="1685979"/>
                  </a:lnTo>
                  <a:lnTo>
                    <a:pt x="0" y="1685979"/>
                  </a:lnTo>
                  <a:close/>
                </a:path>
              </a:pathLst>
            </a:custGeom>
            <a:solidFill>
              <a:srgbClr val="F1EFEF"/>
            </a:solidFill>
            <a:ln cap="sq" cmpd="sng" w="9525">
              <a:solidFill>
                <a:srgbClr val="6E727B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17" name="Google Shape;117;p3"/>
            <p:cNvSpPr txBox="1"/>
            <p:nvPr/>
          </p:nvSpPr>
          <p:spPr>
            <a:xfrm>
              <a:off x="0" y="-38100"/>
              <a:ext cx="1274862" cy="1724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3"/>
          <p:cNvGrpSpPr/>
          <p:nvPr/>
        </p:nvGrpSpPr>
        <p:grpSpPr>
          <a:xfrm>
            <a:off x="7121117" y="2712187"/>
            <a:ext cx="4840491" cy="6546113"/>
            <a:chOff x="0" y="-38100"/>
            <a:chExt cx="1274862" cy="1724079"/>
          </a:xfrm>
        </p:grpSpPr>
        <p:sp>
          <p:nvSpPr>
            <p:cNvPr id="119" name="Google Shape;119;p3"/>
            <p:cNvSpPr/>
            <p:nvPr/>
          </p:nvSpPr>
          <p:spPr>
            <a:xfrm>
              <a:off x="0" y="0"/>
              <a:ext cx="1274862" cy="1685979"/>
            </a:xfrm>
            <a:custGeom>
              <a:rect b="b" l="l" r="r" t="t"/>
              <a:pathLst>
                <a:path extrusionOk="0" h="1685979" w="1274862">
                  <a:moveTo>
                    <a:pt x="0" y="0"/>
                  </a:moveTo>
                  <a:lnTo>
                    <a:pt x="1274862" y="0"/>
                  </a:lnTo>
                  <a:lnTo>
                    <a:pt x="1274862" y="1685979"/>
                  </a:lnTo>
                  <a:lnTo>
                    <a:pt x="0" y="1685979"/>
                  </a:lnTo>
                  <a:close/>
                </a:path>
              </a:pathLst>
            </a:custGeom>
            <a:solidFill>
              <a:srgbClr val="F1EFEF"/>
            </a:solidFill>
            <a:ln cap="sq" cmpd="sng" w="9525">
              <a:solidFill>
                <a:srgbClr val="6E727B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20" name="Google Shape;120;p3"/>
            <p:cNvSpPr txBox="1"/>
            <p:nvPr/>
          </p:nvSpPr>
          <p:spPr>
            <a:xfrm>
              <a:off x="0" y="-38100"/>
              <a:ext cx="1274862" cy="1724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3"/>
          <p:cNvGrpSpPr/>
          <p:nvPr/>
        </p:nvGrpSpPr>
        <p:grpSpPr>
          <a:xfrm>
            <a:off x="1823426" y="2748352"/>
            <a:ext cx="4838881" cy="1220992"/>
            <a:chOff x="0" y="-28575"/>
            <a:chExt cx="1274438" cy="321578"/>
          </a:xfrm>
        </p:grpSpPr>
        <p:sp>
          <p:nvSpPr>
            <p:cNvPr id="122" name="Google Shape;122;p3"/>
            <p:cNvSpPr/>
            <p:nvPr/>
          </p:nvSpPr>
          <p:spPr>
            <a:xfrm>
              <a:off x="0" y="0"/>
              <a:ext cx="1274438" cy="293003"/>
            </a:xfrm>
            <a:custGeom>
              <a:rect b="b" l="l" r="r" t="t"/>
              <a:pathLst>
                <a:path extrusionOk="0" h="293003" w="1274438">
                  <a:moveTo>
                    <a:pt x="0" y="0"/>
                  </a:moveTo>
                  <a:lnTo>
                    <a:pt x="1274438" y="0"/>
                  </a:lnTo>
                  <a:lnTo>
                    <a:pt x="1274438" y="293003"/>
                  </a:lnTo>
                  <a:lnTo>
                    <a:pt x="0" y="293003"/>
                  </a:lnTo>
                  <a:close/>
                </a:path>
              </a:pathLst>
            </a:custGeom>
            <a:solidFill>
              <a:srgbClr val="6E727B"/>
            </a:solidFill>
            <a:ln>
              <a:noFill/>
            </a:ln>
          </p:spPr>
        </p:sp>
        <p:sp>
          <p:nvSpPr>
            <p:cNvPr id="123" name="Google Shape;123;p3"/>
            <p:cNvSpPr txBox="1"/>
            <p:nvPr/>
          </p:nvSpPr>
          <p:spPr>
            <a:xfrm>
              <a:off x="0" y="-28575"/>
              <a:ext cx="1274438" cy="321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3"/>
          <p:cNvGrpSpPr/>
          <p:nvPr/>
        </p:nvGrpSpPr>
        <p:grpSpPr>
          <a:xfrm>
            <a:off x="7121117" y="2687604"/>
            <a:ext cx="4840491" cy="1220992"/>
            <a:chOff x="0" y="-28575"/>
            <a:chExt cx="1274862" cy="321578"/>
          </a:xfrm>
        </p:grpSpPr>
        <p:sp>
          <p:nvSpPr>
            <p:cNvPr id="125" name="Google Shape;125;p3"/>
            <p:cNvSpPr/>
            <p:nvPr/>
          </p:nvSpPr>
          <p:spPr>
            <a:xfrm>
              <a:off x="0" y="0"/>
              <a:ext cx="1274862" cy="293003"/>
            </a:xfrm>
            <a:custGeom>
              <a:rect b="b" l="l" r="r" t="t"/>
              <a:pathLst>
                <a:path extrusionOk="0" h="293003" w="1274862">
                  <a:moveTo>
                    <a:pt x="0" y="0"/>
                  </a:moveTo>
                  <a:lnTo>
                    <a:pt x="1274862" y="0"/>
                  </a:lnTo>
                  <a:lnTo>
                    <a:pt x="1274862" y="293003"/>
                  </a:lnTo>
                  <a:lnTo>
                    <a:pt x="0" y="293003"/>
                  </a:lnTo>
                  <a:close/>
                </a:path>
              </a:pathLst>
            </a:custGeom>
            <a:solidFill>
              <a:srgbClr val="6E727B"/>
            </a:solidFill>
            <a:ln>
              <a:noFill/>
            </a:ln>
          </p:spPr>
        </p:sp>
        <p:sp>
          <p:nvSpPr>
            <p:cNvPr id="126" name="Google Shape;126;p3"/>
            <p:cNvSpPr txBox="1"/>
            <p:nvPr/>
          </p:nvSpPr>
          <p:spPr>
            <a:xfrm>
              <a:off x="0" y="-28575"/>
              <a:ext cx="1274862" cy="321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3"/>
          <p:cNvSpPr txBox="1"/>
          <p:nvPr/>
        </p:nvSpPr>
        <p:spPr>
          <a:xfrm>
            <a:off x="2069611" y="2951088"/>
            <a:ext cx="4594307" cy="957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프로젝트 주제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및 선정 배경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7639864" y="3116445"/>
            <a:ext cx="3802999" cy="490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활용 라이브러리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1269976" y="497598"/>
            <a:ext cx="7874024" cy="1149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 프로젝트 개요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1939643" y="4786234"/>
            <a:ext cx="4609668" cy="2298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1" lvl="1" marL="604521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727B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올림픽 개최가 스포츠 성과,특히 메달 점유율 증가와</a:t>
            </a:r>
            <a:endParaRPr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어떤 관계를 가지는지</a:t>
            </a:r>
            <a:endParaRPr/>
          </a:p>
          <a:p>
            <a:pPr indent="-302261" lvl="1" marL="604521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727B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개최국의 경제 성장으로</a:t>
            </a:r>
            <a:endParaRPr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이어졌는지</a:t>
            </a:r>
            <a:endParaRPr/>
          </a:p>
        </p:txBody>
      </p:sp>
      <p:grpSp>
        <p:nvGrpSpPr>
          <p:cNvPr id="131" name="Google Shape;131;p3"/>
          <p:cNvGrpSpPr/>
          <p:nvPr/>
        </p:nvGrpSpPr>
        <p:grpSpPr>
          <a:xfrm>
            <a:off x="12418809" y="2712187"/>
            <a:ext cx="4840491" cy="6546113"/>
            <a:chOff x="0" y="-38100"/>
            <a:chExt cx="1274862" cy="1724079"/>
          </a:xfrm>
        </p:grpSpPr>
        <p:sp>
          <p:nvSpPr>
            <p:cNvPr id="132" name="Google Shape;132;p3"/>
            <p:cNvSpPr/>
            <p:nvPr/>
          </p:nvSpPr>
          <p:spPr>
            <a:xfrm>
              <a:off x="0" y="0"/>
              <a:ext cx="1274862" cy="1685979"/>
            </a:xfrm>
            <a:custGeom>
              <a:rect b="b" l="l" r="r" t="t"/>
              <a:pathLst>
                <a:path extrusionOk="0" h="1685979" w="1274862">
                  <a:moveTo>
                    <a:pt x="0" y="0"/>
                  </a:moveTo>
                  <a:lnTo>
                    <a:pt x="1274862" y="0"/>
                  </a:lnTo>
                  <a:lnTo>
                    <a:pt x="1274862" y="1685979"/>
                  </a:lnTo>
                  <a:lnTo>
                    <a:pt x="0" y="1685979"/>
                  </a:lnTo>
                  <a:close/>
                </a:path>
              </a:pathLst>
            </a:custGeom>
            <a:solidFill>
              <a:srgbClr val="F1EFEF"/>
            </a:solidFill>
            <a:ln cap="sq" cmpd="sng" w="9525">
              <a:solidFill>
                <a:srgbClr val="6E727B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33" name="Google Shape;133;p3"/>
            <p:cNvSpPr txBox="1"/>
            <p:nvPr/>
          </p:nvSpPr>
          <p:spPr>
            <a:xfrm>
              <a:off x="0" y="-38100"/>
              <a:ext cx="1274862" cy="1724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3"/>
          <p:cNvGrpSpPr/>
          <p:nvPr/>
        </p:nvGrpSpPr>
        <p:grpSpPr>
          <a:xfrm>
            <a:off x="12418809" y="2687604"/>
            <a:ext cx="4840491" cy="1220992"/>
            <a:chOff x="0" y="-28575"/>
            <a:chExt cx="1274862" cy="321578"/>
          </a:xfrm>
        </p:grpSpPr>
        <p:sp>
          <p:nvSpPr>
            <p:cNvPr id="135" name="Google Shape;135;p3"/>
            <p:cNvSpPr/>
            <p:nvPr/>
          </p:nvSpPr>
          <p:spPr>
            <a:xfrm>
              <a:off x="0" y="0"/>
              <a:ext cx="1274862" cy="293003"/>
            </a:xfrm>
            <a:custGeom>
              <a:rect b="b" l="l" r="r" t="t"/>
              <a:pathLst>
                <a:path extrusionOk="0" h="293003" w="1274862">
                  <a:moveTo>
                    <a:pt x="0" y="0"/>
                  </a:moveTo>
                  <a:lnTo>
                    <a:pt x="1274862" y="0"/>
                  </a:lnTo>
                  <a:lnTo>
                    <a:pt x="1274862" y="293003"/>
                  </a:lnTo>
                  <a:lnTo>
                    <a:pt x="0" y="293003"/>
                  </a:lnTo>
                  <a:close/>
                </a:path>
              </a:pathLst>
            </a:custGeom>
            <a:solidFill>
              <a:srgbClr val="6E727B"/>
            </a:solidFill>
            <a:ln>
              <a:noFill/>
            </a:ln>
          </p:spPr>
        </p:sp>
        <p:sp>
          <p:nvSpPr>
            <p:cNvPr id="136" name="Google Shape;136;p3"/>
            <p:cNvSpPr txBox="1"/>
            <p:nvPr/>
          </p:nvSpPr>
          <p:spPr>
            <a:xfrm>
              <a:off x="0" y="-28575"/>
              <a:ext cx="1274862" cy="321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p3"/>
          <p:cNvSpPr txBox="1"/>
          <p:nvPr/>
        </p:nvSpPr>
        <p:spPr>
          <a:xfrm>
            <a:off x="12937555" y="3116445"/>
            <a:ext cx="3802999" cy="490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수집 데이터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12534220" y="4916046"/>
            <a:ext cx="4609668" cy="2999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3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올림픽 종목 및 메달 데이터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(전원)</a:t>
            </a:r>
            <a:endParaRPr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900" u="none" cap="none" strike="noStrike">
              <a:solidFill>
                <a:srgbClr val="6E727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나라별 GDP데이터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(이상영 박영현)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7236529" y="5462463"/>
            <a:ext cx="4609668" cy="150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endParaRPr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  <a:endParaRPr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NUMPY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12534220" y="4001006"/>
            <a:ext cx="4609668" cy="521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출처: kaggle, worldbank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0D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" name="Google Shape;145;p4"/>
          <p:cNvCxnSpPr/>
          <p:nvPr/>
        </p:nvCxnSpPr>
        <p:spPr>
          <a:xfrm rot="10800000">
            <a:off x="740032" y="430923"/>
            <a:ext cx="0" cy="9425155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4"/>
          <p:cNvSpPr/>
          <p:nvPr/>
        </p:nvSpPr>
        <p:spPr>
          <a:xfrm>
            <a:off x="1503680" y="2797608"/>
            <a:ext cx="7008519" cy="4882283"/>
          </a:xfrm>
          <a:custGeom>
            <a:rect b="b" l="l" r="r" t="t"/>
            <a:pathLst>
              <a:path extrusionOk="0" h="4882283" w="7008519">
                <a:moveTo>
                  <a:pt x="0" y="0"/>
                </a:moveTo>
                <a:lnTo>
                  <a:pt x="7008519" y="0"/>
                </a:lnTo>
                <a:lnTo>
                  <a:pt x="7008519" y="4882284"/>
                </a:lnTo>
                <a:lnTo>
                  <a:pt x="0" y="48822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6405"/>
            </a:stretch>
          </a:blipFill>
          <a:ln>
            <a:noFill/>
          </a:ln>
        </p:spPr>
      </p:sp>
      <p:grpSp>
        <p:nvGrpSpPr>
          <p:cNvPr id="147" name="Google Shape;147;p4"/>
          <p:cNvGrpSpPr/>
          <p:nvPr/>
        </p:nvGrpSpPr>
        <p:grpSpPr>
          <a:xfrm>
            <a:off x="9642943" y="2255130"/>
            <a:ext cx="7178919" cy="5424761"/>
            <a:chOff x="0" y="-142875"/>
            <a:chExt cx="1890744" cy="1428744"/>
          </a:xfrm>
        </p:grpSpPr>
        <p:sp>
          <p:nvSpPr>
            <p:cNvPr id="148" name="Google Shape;148;p4"/>
            <p:cNvSpPr/>
            <p:nvPr/>
          </p:nvSpPr>
          <p:spPr>
            <a:xfrm>
              <a:off x="0" y="0"/>
              <a:ext cx="1890744" cy="1285869"/>
            </a:xfrm>
            <a:custGeom>
              <a:rect b="b" l="l" r="r" t="t"/>
              <a:pathLst>
                <a:path extrusionOk="0" h="1285869" w="1890744">
                  <a:moveTo>
                    <a:pt x="55000" y="0"/>
                  </a:moveTo>
                  <a:lnTo>
                    <a:pt x="1835745" y="0"/>
                  </a:lnTo>
                  <a:cubicBezTo>
                    <a:pt x="1866120" y="0"/>
                    <a:pt x="1890744" y="24624"/>
                    <a:pt x="1890744" y="55000"/>
                  </a:cubicBezTo>
                  <a:lnTo>
                    <a:pt x="1890744" y="1230869"/>
                  </a:lnTo>
                  <a:cubicBezTo>
                    <a:pt x="1890744" y="1261245"/>
                    <a:pt x="1866120" y="1285869"/>
                    <a:pt x="1835745" y="1285869"/>
                  </a:cubicBezTo>
                  <a:lnTo>
                    <a:pt x="55000" y="1285869"/>
                  </a:lnTo>
                  <a:cubicBezTo>
                    <a:pt x="24624" y="1285869"/>
                    <a:pt x="0" y="1261245"/>
                    <a:pt x="0" y="1230869"/>
                  </a:cubicBezTo>
                  <a:lnTo>
                    <a:pt x="0" y="55000"/>
                  </a:lnTo>
                  <a:cubicBezTo>
                    <a:pt x="0" y="24624"/>
                    <a:pt x="24624" y="0"/>
                    <a:pt x="55000" y="0"/>
                  </a:cubicBezTo>
                  <a:close/>
                </a:path>
              </a:pathLst>
            </a:custGeom>
            <a:solidFill>
              <a:srgbClr val="C1C6D1">
                <a:alpha val="419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4"/>
            <p:cNvSpPr txBox="1"/>
            <p:nvPr/>
          </p:nvSpPr>
          <p:spPr>
            <a:xfrm>
              <a:off x="0" y="-142875"/>
              <a:ext cx="1890744" cy="142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2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4"/>
          <p:cNvSpPr txBox="1"/>
          <p:nvPr/>
        </p:nvSpPr>
        <p:spPr>
          <a:xfrm>
            <a:off x="1028700" y="497590"/>
            <a:ext cx="16002675" cy="1028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 올림픽 개최국별 메달 점유율 비교</a:t>
            </a:r>
            <a:endParaRPr/>
          </a:p>
        </p:txBody>
      </p:sp>
      <p:sp>
        <p:nvSpPr>
          <p:cNvPr id="151" name="Google Shape;151;p4"/>
          <p:cNvSpPr txBox="1"/>
          <p:nvPr/>
        </p:nvSpPr>
        <p:spPr>
          <a:xfrm>
            <a:off x="2105391" y="7898363"/>
            <a:ext cx="4277027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국가별 올림픽 메달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6690150" y="7896757"/>
            <a:ext cx="1109488" cy="461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Kaggle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1028700" y="1555074"/>
            <a:ext cx="160026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5775" lvl="1" marL="9715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65A62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데이터 수집 및 전처리 - 하계</a:t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9642943" y="3571921"/>
            <a:ext cx="7388432" cy="3616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필터링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- 핵심 열 추출 후 시즌/연도별 조건부 데이터 선별</a:t>
            </a:r>
            <a:endParaRPr/>
          </a:p>
          <a:p>
            <a:pPr indent="-215900" lvl="1" marL="43180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불필요 요소 제거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- games 열에서 연도와 공백 삭제 후 개최 도시명 추출</a:t>
            </a:r>
            <a:endParaRPr/>
          </a:p>
          <a:p>
            <a:pPr indent="-215900" lvl="1" marL="43180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개최국 열 생성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- 개최 도시를 국가 코드로 매핑</a:t>
            </a:r>
            <a:endParaRPr/>
          </a:p>
          <a:p>
            <a:pPr indent="-215900" lvl="1" marL="43180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종목 재분류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- 경기 특성에 따라 판정 종목과 기록 종목으로 구분</a:t>
            </a:r>
            <a:endParaRPr/>
          </a:p>
          <a:p>
            <a:pPr indent="-215900" lvl="1" marL="43180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국가 코드 표준화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- 소련(URS)을 러시아(RUS)로 표준화</a:t>
            </a:r>
            <a:endParaRPr/>
          </a:p>
          <a:p>
            <a:pPr indent="-215900" lvl="1" marL="43180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최종 지표 산출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- 연도별 종목별 전체 메달 수 대비 국가별 점유율(%) 계산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155;p4"/>
          <p:cNvGrpSpPr/>
          <p:nvPr/>
        </p:nvGrpSpPr>
        <p:grpSpPr>
          <a:xfrm>
            <a:off x="1503680" y="2392017"/>
            <a:ext cx="3122522" cy="5477771"/>
            <a:chOff x="0" y="-47625"/>
            <a:chExt cx="822393" cy="1442705"/>
          </a:xfrm>
        </p:grpSpPr>
        <p:sp>
          <p:nvSpPr>
            <p:cNvPr id="156" name="Google Shape;156;p4"/>
            <p:cNvSpPr/>
            <p:nvPr/>
          </p:nvSpPr>
          <p:spPr>
            <a:xfrm>
              <a:off x="0" y="0"/>
              <a:ext cx="822393" cy="1395080"/>
            </a:xfrm>
            <a:custGeom>
              <a:rect b="b" l="l" r="r" t="t"/>
              <a:pathLst>
                <a:path extrusionOk="0" h="1395080" w="822393">
                  <a:moveTo>
                    <a:pt x="42149" y="0"/>
                  </a:moveTo>
                  <a:lnTo>
                    <a:pt x="780243" y="0"/>
                  </a:lnTo>
                  <a:cubicBezTo>
                    <a:pt x="803522" y="0"/>
                    <a:pt x="822393" y="18871"/>
                    <a:pt x="822393" y="42149"/>
                  </a:cubicBezTo>
                  <a:lnTo>
                    <a:pt x="822393" y="1352931"/>
                  </a:lnTo>
                  <a:cubicBezTo>
                    <a:pt x="822393" y="1376209"/>
                    <a:pt x="803522" y="1395080"/>
                    <a:pt x="780243" y="1395080"/>
                  </a:cubicBezTo>
                  <a:lnTo>
                    <a:pt x="42149" y="1395080"/>
                  </a:lnTo>
                  <a:cubicBezTo>
                    <a:pt x="18871" y="1395080"/>
                    <a:pt x="0" y="1376209"/>
                    <a:pt x="0" y="1352931"/>
                  </a:cubicBezTo>
                  <a:lnTo>
                    <a:pt x="0" y="42149"/>
                  </a:lnTo>
                  <a:cubicBezTo>
                    <a:pt x="0" y="18871"/>
                    <a:pt x="18871" y="0"/>
                    <a:pt x="421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42875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4"/>
            <p:cNvSpPr txBox="1"/>
            <p:nvPr/>
          </p:nvSpPr>
          <p:spPr>
            <a:xfrm>
              <a:off x="0" y="-47625"/>
              <a:ext cx="822393" cy="1442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4"/>
          <p:cNvGrpSpPr/>
          <p:nvPr/>
        </p:nvGrpSpPr>
        <p:grpSpPr>
          <a:xfrm>
            <a:off x="5128888" y="2392017"/>
            <a:ext cx="1703310" cy="5477771"/>
            <a:chOff x="0" y="-47625"/>
            <a:chExt cx="448608" cy="1442705"/>
          </a:xfrm>
        </p:grpSpPr>
        <p:sp>
          <p:nvSpPr>
            <p:cNvPr id="159" name="Google Shape;159;p4"/>
            <p:cNvSpPr/>
            <p:nvPr/>
          </p:nvSpPr>
          <p:spPr>
            <a:xfrm>
              <a:off x="0" y="0"/>
              <a:ext cx="448608" cy="1395080"/>
            </a:xfrm>
            <a:custGeom>
              <a:rect b="b" l="l" r="r" t="t"/>
              <a:pathLst>
                <a:path extrusionOk="0" h="1395080" w="448608">
                  <a:moveTo>
                    <a:pt x="77269" y="0"/>
                  </a:moveTo>
                  <a:lnTo>
                    <a:pt x="371340" y="0"/>
                  </a:lnTo>
                  <a:cubicBezTo>
                    <a:pt x="414014" y="0"/>
                    <a:pt x="448608" y="34594"/>
                    <a:pt x="448608" y="77269"/>
                  </a:cubicBezTo>
                  <a:lnTo>
                    <a:pt x="448608" y="1317811"/>
                  </a:lnTo>
                  <a:cubicBezTo>
                    <a:pt x="448608" y="1338304"/>
                    <a:pt x="440468" y="1357958"/>
                    <a:pt x="425977" y="1372449"/>
                  </a:cubicBezTo>
                  <a:cubicBezTo>
                    <a:pt x="411486" y="1386939"/>
                    <a:pt x="391833" y="1395080"/>
                    <a:pt x="371340" y="1395080"/>
                  </a:cubicBezTo>
                  <a:lnTo>
                    <a:pt x="77269" y="1395080"/>
                  </a:lnTo>
                  <a:cubicBezTo>
                    <a:pt x="34594" y="1395080"/>
                    <a:pt x="0" y="1360486"/>
                    <a:pt x="0" y="1317811"/>
                  </a:cubicBezTo>
                  <a:lnTo>
                    <a:pt x="0" y="77269"/>
                  </a:lnTo>
                  <a:cubicBezTo>
                    <a:pt x="0" y="34594"/>
                    <a:pt x="34594" y="0"/>
                    <a:pt x="7726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42875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4"/>
            <p:cNvSpPr txBox="1"/>
            <p:nvPr/>
          </p:nvSpPr>
          <p:spPr>
            <a:xfrm>
              <a:off x="0" y="-47625"/>
              <a:ext cx="448608" cy="1442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0D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" name="Google Shape;165;p5"/>
          <p:cNvCxnSpPr/>
          <p:nvPr/>
        </p:nvCxnSpPr>
        <p:spPr>
          <a:xfrm rot="10800000">
            <a:off x="740032" y="430923"/>
            <a:ext cx="0" cy="9425155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5"/>
          <p:cNvSpPr/>
          <p:nvPr/>
        </p:nvSpPr>
        <p:spPr>
          <a:xfrm>
            <a:off x="1684818" y="2219977"/>
            <a:ext cx="9805586" cy="7636100"/>
          </a:xfrm>
          <a:custGeom>
            <a:rect b="b" l="l" r="r" t="t"/>
            <a:pathLst>
              <a:path extrusionOk="0" h="7636100" w="9805586">
                <a:moveTo>
                  <a:pt x="0" y="0"/>
                </a:moveTo>
                <a:lnTo>
                  <a:pt x="9805586" y="0"/>
                </a:lnTo>
                <a:lnTo>
                  <a:pt x="9805586" y="7636100"/>
                </a:lnTo>
                <a:lnTo>
                  <a:pt x="0" y="7636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5"/>
          <p:cNvSpPr txBox="1"/>
          <p:nvPr/>
        </p:nvSpPr>
        <p:spPr>
          <a:xfrm>
            <a:off x="1028700" y="497598"/>
            <a:ext cx="16002675" cy="1028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 올림픽 개최국별 메달 점유율 비교</a:t>
            </a:r>
            <a:endParaRPr/>
          </a:p>
        </p:txBody>
      </p:sp>
      <p:sp>
        <p:nvSpPr>
          <p:cNvPr id="168" name="Google Shape;168;p5"/>
          <p:cNvSpPr txBox="1"/>
          <p:nvPr/>
        </p:nvSpPr>
        <p:spPr>
          <a:xfrm>
            <a:off x="1028700" y="1555056"/>
            <a:ext cx="16002675" cy="647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5775" lvl="1" marL="9715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65A62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데이터 시각화 및 분석 - 하계</a:t>
            </a:r>
            <a:endParaRPr/>
          </a:p>
        </p:txBody>
      </p:sp>
      <p:grpSp>
        <p:nvGrpSpPr>
          <p:cNvPr id="169" name="Google Shape;169;p5"/>
          <p:cNvGrpSpPr/>
          <p:nvPr/>
        </p:nvGrpSpPr>
        <p:grpSpPr>
          <a:xfrm>
            <a:off x="11848031" y="3914317"/>
            <a:ext cx="6083792" cy="3324659"/>
            <a:chOff x="0" y="-38100"/>
            <a:chExt cx="1602316" cy="875630"/>
          </a:xfrm>
        </p:grpSpPr>
        <p:sp>
          <p:nvSpPr>
            <p:cNvPr id="170" name="Google Shape;170;p5"/>
            <p:cNvSpPr/>
            <p:nvPr/>
          </p:nvSpPr>
          <p:spPr>
            <a:xfrm>
              <a:off x="0" y="0"/>
              <a:ext cx="1602316" cy="837530"/>
            </a:xfrm>
            <a:custGeom>
              <a:rect b="b" l="l" r="r" t="t"/>
              <a:pathLst>
                <a:path extrusionOk="0" h="837530" w="1602316">
                  <a:moveTo>
                    <a:pt x="64900" y="0"/>
                  </a:moveTo>
                  <a:lnTo>
                    <a:pt x="1537416" y="0"/>
                  </a:lnTo>
                  <a:cubicBezTo>
                    <a:pt x="1573259" y="0"/>
                    <a:pt x="1602316" y="29057"/>
                    <a:pt x="1602316" y="64900"/>
                  </a:cubicBezTo>
                  <a:lnTo>
                    <a:pt x="1602316" y="772630"/>
                  </a:lnTo>
                  <a:cubicBezTo>
                    <a:pt x="1602316" y="808474"/>
                    <a:pt x="1573259" y="837530"/>
                    <a:pt x="1537416" y="837530"/>
                  </a:cubicBezTo>
                  <a:lnTo>
                    <a:pt x="64900" y="837530"/>
                  </a:lnTo>
                  <a:cubicBezTo>
                    <a:pt x="29057" y="837530"/>
                    <a:pt x="0" y="808474"/>
                    <a:pt x="0" y="772630"/>
                  </a:cubicBezTo>
                  <a:lnTo>
                    <a:pt x="0" y="64900"/>
                  </a:lnTo>
                  <a:cubicBezTo>
                    <a:pt x="0" y="29057"/>
                    <a:pt x="29057" y="0"/>
                    <a:pt x="64900" y="0"/>
                  </a:cubicBezTo>
                  <a:close/>
                </a:path>
              </a:pathLst>
            </a:custGeom>
            <a:solidFill>
              <a:srgbClr val="C1C6D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5"/>
            <p:cNvSpPr txBox="1"/>
            <p:nvPr/>
          </p:nvSpPr>
          <p:spPr>
            <a:xfrm>
              <a:off x="0" y="-38100"/>
              <a:ext cx="1602316" cy="875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5"/>
          <p:cNvSpPr txBox="1"/>
          <p:nvPr/>
        </p:nvSpPr>
        <p:spPr>
          <a:xfrm>
            <a:off x="11490404" y="4505137"/>
            <a:ext cx="6797596" cy="30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74980" lvl="1" marL="94996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Char char="•"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개최국 효과가 뚜렷한 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상승세 확인</a:t>
            </a:r>
            <a:endParaRPr/>
          </a:p>
          <a:p>
            <a:pPr indent="-474980" lvl="1" marL="94996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Char char="•"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국가별 주력 종목의 차이 존재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0D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7" name="Google Shape;177;p6"/>
          <p:cNvCxnSpPr/>
          <p:nvPr/>
        </p:nvCxnSpPr>
        <p:spPr>
          <a:xfrm rot="10800000">
            <a:off x="740032" y="430923"/>
            <a:ext cx="0" cy="9425155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8" name="Google Shape;178;p6"/>
          <p:cNvGrpSpPr/>
          <p:nvPr/>
        </p:nvGrpSpPr>
        <p:grpSpPr>
          <a:xfrm>
            <a:off x="1257728" y="7542373"/>
            <a:ext cx="7819580" cy="2313704"/>
            <a:chOff x="0" y="-38100"/>
            <a:chExt cx="2059478" cy="609371"/>
          </a:xfrm>
        </p:grpSpPr>
        <p:sp>
          <p:nvSpPr>
            <p:cNvPr id="179" name="Google Shape;179;p6"/>
            <p:cNvSpPr/>
            <p:nvPr/>
          </p:nvSpPr>
          <p:spPr>
            <a:xfrm>
              <a:off x="0" y="0"/>
              <a:ext cx="2059478" cy="571271"/>
            </a:xfrm>
            <a:custGeom>
              <a:rect b="b" l="l" r="r" t="t"/>
              <a:pathLst>
                <a:path extrusionOk="0" h="571271" w="2059478">
                  <a:moveTo>
                    <a:pt x="50493" y="0"/>
                  </a:moveTo>
                  <a:lnTo>
                    <a:pt x="2008984" y="0"/>
                  </a:lnTo>
                  <a:cubicBezTo>
                    <a:pt x="2022376" y="0"/>
                    <a:pt x="2035219" y="5320"/>
                    <a:pt x="2044689" y="14789"/>
                  </a:cubicBezTo>
                  <a:cubicBezTo>
                    <a:pt x="2054158" y="24259"/>
                    <a:pt x="2059478" y="37102"/>
                    <a:pt x="2059478" y="50493"/>
                  </a:cubicBezTo>
                  <a:lnTo>
                    <a:pt x="2059478" y="520777"/>
                  </a:lnTo>
                  <a:cubicBezTo>
                    <a:pt x="2059478" y="534169"/>
                    <a:pt x="2054158" y="547012"/>
                    <a:pt x="2044689" y="556481"/>
                  </a:cubicBezTo>
                  <a:cubicBezTo>
                    <a:pt x="2035219" y="565951"/>
                    <a:pt x="2022376" y="571271"/>
                    <a:pt x="2008984" y="571271"/>
                  </a:cubicBezTo>
                  <a:lnTo>
                    <a:pt x="50493" y="571271"/>
                  </a:lnTo>
                  <a:cubicBezTo>
                    <a:pt x="37102" y="571271"/>
                    <a:pt x="24259" y="565951"/>
                    <a:pt x="14789" y="556481"/>
                  </a:cubicBezTo>
                  <a:cubicBezTo>
                    <a:pt x="5320" y="547012"/>
                    <a:pt x="0" y="534169"/>
                    <a:pt x="0" y="520777"/>
                  </a:cubicBezTo>
                  <a:lnTo>
                    <a:pt x="0" y="50493"/>
                  </a:lnTo>
                  <a:cubicBezTo>
                    <a:pt x="0" y="37102"/>
                    <a:pt x="5320" y="24259"/>
                    <a:pt x="14789" y="14789"/>
                  </a:cubicBezTo>
                  <a:cubicBezTo>
                    <a:pt x="24259" y="5320"/>
                    <a:pt x="37102" y="0"/>
                    <a:pt x="50493" y="0"/>
                  </a:cubicBezTo>
                  <a:close/>
                </a:path>
              </a:pathLst>
            </a:custGeom>
            <a:solidFill>
              <a:srgbClr val="C1C6D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6"/>
            <p:cNvSpPr txBox="1"/>
            <p:nvPr/>
          </p:nvSpPr>
          <p:spPr>
            <a:xfrm>
              <a:off x="0" y="-38100"/>
              <a:ext cx="2059478" cy="6093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6"/>
          <p:cNvGrpSpPr/>
          <p:nvPr/>
        </p:nvGrpSpPr>
        <p:grpSpPr>
          <a:xfrm>
            <a:off x="9666442" y="7542373"/>
            <a:ext cx="7819580" cy="2313704"/>
            <a:chOff x="0" y="-38100"/>
            <a:chExt cx="2059478" cy="609371"/>
          </a:xfrm>
        </p:grpSpPr>
        <p:sp>
          <p:nvSpPr>
            <p:cNvPr id="182" name="Google Shape;182;p6"/>
            <p:cNvSpPr/>
            <p:nvPr/>
          </p:nvSpPr>
          <p:spPr>
            <a:xfrm>
              <a:off x="0" y="0"/>
              <a:ext cx="2059478" cy="571271"/>
            </a:xfrm>
            <a:custGeom>
              <a:rect b="b" l="l" r="r" t="t"/>
              <a:pathLst>
                <a:path extrusionOk="0" h="571271" w="2059478">
                  <a:moveTo>
                    <a:pt x="50493" y="0"/>
                  </a:moveTo>
                  <a:lnTo>
                    <a:pt x="2008984" y="0"/>
                  </a:lnTo>
                  <a:cubicBezTo>
                    <a:pt x="2022376" y="0"/>
                    <a:pt x="2035219" y="5320"/>
                    <a:pt x="2044689" y="14789"/>
                  </a:cubicBezTo>
                  <a:cubicBezTo>
                    <a:pt x="2054158" y="24259"/>
                    <a:pt x="2059478" y="37102"/>
                    <a:pt x="2059478" y="50493"/>
                  </a:cubicBezTo>
                  <a:lnTo>
                    <a:pt x="2059478" y="520777"/>
                  </a:lnTo>
                  <a:cubicBezTo>
                    <a:pt x="2059478" y="534169"/>
                    <a:pt x="2054158" y="547012"/>
                    <a:pt x="2044689" y="556481"/>
                  </a:cubicBezTo>
                  <a:cubicBezTo>
                    <a:pt x="2035219" y="565951"/>
                    <a:pt x="2022376" y="571271"/>
                    <a:pt x="2008984" y="571271"/>
                  </a:cubicBezTo>
                  <a:lnTo>
                    <a:pt x="50493" y="571271"/>
                  </a:lnTo>
                  <a:cubicBezTo>
                    <a:pt x="37102" y="571271"/>
                    <a:pt x="24259" y="565951"/>
                    <a:pt x="14789" y="556481"/>
                  </a:cubicBezTo>
                  <a:cubicBezTo>
                    <a:pt x="5320" y="547012"/>
                    <a:pt x="0" y="534169"/>
                    <a:pt x="0" y="520777"/>
                  </a:cubicBezTo>
                  <a:lnTo>
                    <a:pt x="0" y="50493"/>
                  </a:lnTo>
                  <a:cubicBezTo>
                    <a:pt x="0" y="37102"/>
                    <a:pt x="5320" y="24259"/>
                    <a:pt x="14789" y="14789"/>
                  </a:cubicBezTo>
                  <a:cubicBezTo>
                    <a:pt x="24259" y="5320"/>
                    <a:pt x="37102" y="0"/>
                    <a:pt x="50493" y="0"/>
                  </a:cubicBezTo>
                  <a:close/>
                </a:path>
              </a:pathLst>
            </a:custGeom>
            <a:solidFill>
              <a:srgbClr val="C1C6D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6"/>
            <p:cNvSpPr txBox="1"/>
            <p:nvPr/>
          </p:nvSpPr>
          <p:spPr>
            <a:xfrm>
              <a:off x="0" y="-38100"/>
              <a:ext cx="2059478" cy="6093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6"/>
          <p:cNvSpPr txBox="1"/>
          <p:nvPr/>
        </p:nvSpPr>
        <p:spPr>
          <a:xfrm>
            <a:off x="1028700" y="497598"/>
            <a:ext cx="16002675" cy="1028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 올림픽 개최국별 메달 점유율 비교</a:t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1028700" y="1555056"/>
            <a:ext cx="16002675" cy="647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5775" lvl="1" marL="9715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65A62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데이터 시각화 및 분석 - 하계</a:t>
            </a:r>
            <a:endParaRPr/>
          </a:p>
        </p:txBody>
      </p:sp>
      <p:sp>
        <p:nvSpPr>
          <p:cNvPr id="186" name="Google Shape;186;p6"/>
          <p:cNvSpPr txBox="1"/>
          <p:nvPr/>
        </p:nvSpPr>
        <p:spPr>
          <a:xfrm>
            <a:off x="9751033" y="7904145"/>
            <a:ext cx="7665472" cy="1744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4649" lvl="1" marL="66929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b="1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2020년 올림픽 개최 시 판정 종목 점유율 12.2% 달성</a:t>
            </a:r>
            <a:endParaRPr/>
          </a:p>
          <a:p>
            <a:pPr indent="-334649" lvl="1" marL="66929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b="1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직전 년도 대비 4.2% 급상승하며 개최국 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효과 입증</a:t>
            </a:r>
            <a:endParaRPr/>
          </a:p>
        </p:txBody>
      </p:sp>
      <p:sp>
        <p:nvSpPr>
          <p:cNvPr id="187" name="Google Shape;187;p6"/>
          <p:cNvSpPr txBox="1"/>
          <p:nvPr/>
        </p:nvSpPr>
        <p:spPr>
          <a:xfrm>
            <a:off x="1364566" y="8118458"/>
            <a:ext cx="7665472" cy="131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4649" lvl="1" marL="66929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b="1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2008년 올림픽 개최 시 판정 종목 점유율 역대 최고치 경신</a:t>
            </a:r>
            <a:endParaRPr/>
          </a:p>
          <a:p>
            <a:pPr indent="-334649" lvl="1" marL="66929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b="1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직전 년도 대비 약 2배 가까이 급등</a:t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1657782" y="2202792"/>
            <a:ext cx="7019473" cy="5264605"/>
          </a:xfrm>
          <a:custGeom>
            <a:rect b="b" l="l" r="r" t="t"/>
            <a:pathLst>
              <a:path extrusionOk="0" h="5264605" w="7019473">
                <a:moveTo>
                  <a:pt x="0" y="0"/>
                </a:moveTo>
                <a:lnTo>
                  <a:pt x="7019473" y="0"/>
                </a:lnTo>
                <a:lnTo>
                  <a:pt x="7019473" y="5264605"/>
                </a:lnTo>
                <a:lnTo>
                  <a:pt x="0" y="52646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8675" l="-207546" r="-600" t="-121273"/>
            </a:stretch>
          </a:blipFill>
          <a:ln>
            <a:noFill/>
          </a:ln>
        </p:spPr>
      </p:sp>
      <p:sp>
        <p:nvSpPr>
          <p:cNvPr id="189" name="Google Shape;189;p6"/>
          <p:cNvSpPr/>
          <p:nvPr/>
        </p:nvSpPr>
        <p:spPr>
          <a:xfrm>
            <a:off x="10088283" y="2202792"/>
            <a:ext cx="6990972" cy="5243229"/>
          </a:xfrm>
          <a:custGeom>
            <a:rect b="b" l="l" r="r" t="t"/>
            <a:pathLst>
              <a:path extrusionOk="0" h="5243229" w="6990972">
                <a:moveTo>
                  <a:pt x="0" y="0"/>
                </a:moveTo>
                <a:lnTo>
                  <a:pt x="6990972" y="0"/>
                </a:lnTo>
                <a:lnTo>
                  <a:pt x="6990972" y="5243229"/>
                </a:lnTo>
                <a:lnTo>
                  <a:pt x="0" y="52432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04727" r="-1242" t="-217702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0D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4" name="Google Shape;194;p7"/>
          <p:cNvCxnSpPr/>
          <p:nvPr/>
        </p:nvCxnSpPr>
        <p:spPr>
          <a:xfrm rot="10800000">
            <a:off x="740032" y="430923"/>
            <a:ext cx="0" cy="9425155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7"/>
          <p:cNvSpPr txBox="1"/>
          <p:nvPr/>
        </p:nvSpPr>
        <p:spPr>
          <a:xfrm>
            <a:off x="1028700" y="497598"/>
            <a:ext cx="16002675" cy="1028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 올림픽 개최국별 메달 점유율 비교</a:t>
            </a:r>
            <a:endParaRPr/>
          </a:p>
        </p:txBody>
      </p:sp>
      <p:sp>
        <p:nvSpPr>
          <p:cNvPr id="196" name="Google Shape;196;p7"/>
          <p:cNvSpPr txBox="1"/>
          <p:nvPr/>
        </p:nvSpPr>
        <p:spPr>
          <a:xfrm>
            <a:off x="1028700" y="1555056"/>
            <a:ext cx="16002675" cy="647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5775" lvl="1" marL="9715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65A62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데이터 시각화 및 분석 - 하계</a:t>
            </a:r>
            <a:endParaRPr/>
          </a:p>
        </p:txBody>
      </p:sp>
      <p:grpSp>
        <p:nvGrpSpPr>
          <p:cNvPr id="197" name="Google Shape;197;p7"/>
          <p:cNvGrpSpPr/>
          <p:nvPr/>
        </p:nvGrpSpPr>
        <p:grpSpPr>
          <a:xfrm>
            <a:off x="1257728" y="7542373"/>
            <a:ext cx="7819580" cy="2313704"/>
            <a:chOff x="0" y="-38100"/>
            <a:chExt cx="2059478" cy="609371"/>
          </a:xfrm>
        </p:grpSpPr>
        <p:sp>
          <p:nvSpPr>
            <p:cNvPr id="198" name="Google Shape;198;p7"/>
            <p:cNvSpPr/>
            <p:nvPr/>
          </p:nvSpPr>
          <p:spPr>
            <a:xfrm>
              <a:off x="0" y="0"/>
              <a:ext cx="2059478" cy="571271"/>
            </a:xfrm>
            <a:custGeom>
              <a:rect b="b" l="l" r="r" t="t"/>
              <a:pathLst>
                <a:path extrusionOk="0" h="571271" w="2059478">
                  <a:moveTo>
                    <a:pt x="50493" y="0"/>
                  </a:moveTo>
                  <a:lnTo>
                    <a:pt x="2008984" y="0"/>
                  </a:lnTo>
                  <a:cubicBezTo>
                    <a:pt x="2022376" y="0"/>
                    <a:pt x="2035219" y="5320"/>
                    <a:pt x="2044689" y="14789"/>
                  </a:cubicBezTo>
                  <a:cubicBezTo>
                    <a:pt x="2054158" y="24259"/>
                    <a:pt x="2059478" y="37102"/>
                    <a:pt x="2059478" y="50493"/>
                  </a:cubicBezTo>
                  <a:lnTo>
                    <a:pt x="2059478" y="520777"/>
                  </a:lnTo>
                  <a:cubicBezTo>
                    <a:pt x="2059478" y="534169"/>
                    <a:pt x="2054158" y="547012"/>
                    <a:pt x="2044689" y="556481"/>
                  </a:cubicBezTo>
                  <a:cubicBezTo>
                    <a:pt x="2035219" y="565951"/>
                    <a:pt x="2022376" y="571271"/>
                    <a:pt x="2008984" y="571271"/>
                  </a:cubicBezTo>
                  <a:lnTo>
                    <a:pt x="50493" y="571271"/>
                  </a:lnTo>
                  <a:cubicBezTo>
                    <a:pt x="37102" y="571271"/>
                    <a:pt x="24259" y="565951"/>
                    <a:pt x="14789" y="556481"/>
                  </a:cubicBezTo>
                  <a:cubicBezTo>
                    <a:pt x="5320" y="547012"/>
                    <a:pt x="0" y="534169"/>
                    <a:pt x="0" y="520777"/>
                  </a:cubicBezTo>
                  <a:lnTo>
                    <a:pt x="0" y="50493"/>
                  </a:lnTo>
                  <a:cubicBezTo>
                    <a:pt x="0" y="37102"/>
                    <a:pt x="5320" y="24259"/>
                    <a:pt x="14789" y="14789"/>
                  </a:cubicBezTo>
                  <a:cubicBezTo>
                    <a:pt x="24259" y="5320"/>
                    <a:pt x="37102" y="0"/>
                    <a:pt x="50493" y="0"/>
                  </a:cubicBezTo>
                  <a:close/>
                </a:path>
              </a:pathLst>
            </a:custGeom>
            <a:solidFill>
              <a:srgbClr val="C1C6D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7"/>
            <p:cNvSpPr txBox="1"/>
            <p:nvPr/>
          </p:nvSpPr>
          <p:spPr>
            <a:xfrm>
              <a:off x="0" y="-38100"/>
              <a:ext cx="2059478" cy="6093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" name="Google Shape;200;p7"/>
          <p:cNvGrpSpPr/>
          <p:nvPr/>
        </p:nvGrpSpPr>
        <p:grpSpPr>
          <a:xfrm>
            <a:off x="9666442" y="7542373"/>
            <a:ext cx="7819580" cy="2313704"/>
            <a:chOff x="0" y="-38100"/>
            <a:chExt cx="2059478" cy="609371"/>
          </a:xfrm>
        </p:grpSpPr>
        <p:sp>
          <p:nvSpPr>
            <p:cNvPr id="201" name="Google Shape;201;p7"/>
            <p:cNvSpPr/>
            <p:nvPr/>
          </p:nvSpPr>
          <p:spPr>
            <a:xfrm>
              <a:off x="0" y="0"/>
              <a:ext cx="2059478" cy="571271"/>
            </a:xfrm>
            <a:custGeom>
              <a:rect b="b" l="l" r="r" t="t"/>
              <a:pathLst>
                <a:path extrusionOk="0" h="571271" w="2059478">
                  <a:moveTo>
                    <a:pt x="50493" y="0"/>
                  </a:moveTo>
                  <a:lnTo>
                    <a:pt x="2008984" y="0"/>
                  </a:lnTo>
                  <a:cubicBezTo>
                    <a:pt x="2022376" y="0"/>
                    <a:pt x="2035219" y="5320"/>
                    <a:pt x="2044689" y="14789"/>
                  </a:cubicBezTo>
                  <a:cubicBezTo>
                    <a:pt x="2054158" y="24259"/>
                    <a:pt x="2059478" y="37102"/>
                    <a:pt x="2059478" y="50493"/>
                  </a:cubicBezTo>
                  <a:lnTo>
                    <a:pt x="2059478" y="520777"/>
                  </a:lnTo>
                  <a:cubicBezTo>
                    <a:pt x="2059478" y="534169"/>
                    <a:pt x="2054158" y="547012"/>
                    <a:pt x="2044689" y="556481"/>
                  </a:cubicBezTo>
                  <a:cubicBezTo>
                    <a:pt x="2035219" y="565951"/>
                    <a:pt x="2022376" y="571271"/>
                    <a:pt x="2008984" y="571271"/>
                  </a:cubicBezTo>
                  <a:lnTo>
                    <a:pt x="50493" y="571271"/>
                  </a:lnTo>
                  <a:cubicBezTo>
                    <a:pt x="37102" y="571271"/>
                    <a:pt x="24259" y="565951"/>
                    <a:pt x="14789" y="556481"/>
                  </a:cubicBezTo>
                  <a:cubicBezTo>
                    <a:pt x="5320" y="547012"/>
                    <a:pt x="0" y="534169"/>
                    <a:pt x="0" y="520777"/>
                  </a:cubicBezTo>
                  <a:lnTo>
                    <a:pt x="0" y="50493"/>
                  </a:lnTo>
                  <a:cubicBezTo>
                    <a:pt x="0" y="37102"/>
                    <a:pt x="5320" y="24259"/>
                    <a:pt x="14789" y="14789"/>
                  </a:cubicBezTo>
                  <a:cubicBezTo>
                    <a:pt x="24259" y="5320"/>
                    <a:pt x="37102" y="0"/>
                    <a:pt x="50493" y="0"/>
                  </a:cubicBezTo>
                  <a:close/>
                </a:path>
              </a:pathLst>
            </a:custGeom>
            <a:solidFill>
              <a:srgbClr val="C1C6D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7"/>
            <p:cNvSpPr txBox="1"/>
            <p:nvPr/>
          </p:nvSpPr>
          <p:spPr>
            <a:xfrm>
              <a:off x="0" y="-38100"/>
              <a:ext cx="2059478" cy="6093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7"/>
          <p:cNvSpPr txBox="1"/>
          <p:nvPr/>
        </p:nvSpPr>
        <p:spPr>
          <a:xfrm>
            <a:off x="9751033" y="8118458"/>
            <a:ext cx="7665472" cy="131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4649" lvl="1" marL="66929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b="1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1992년 올림픽 개최 시 기록 종목 3.1%로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정점 달성</a:t>
            </a:r>
            <a:endParaRPr/>
          </a:p>
          <a:p>
            <a:pPr indent="-334649" lvl="1" marL="66929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b="1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직전 년도 대비 약 3배 급등</a:t>
            </a:r>
            <a:endParaRPr/>
          </a:p>
        </p:txBody>
      </p:sp>
      <p:sp>
        <p:nvSpPr>
          <p:cNvPr id="204" name="Google Shape;204;p7"/>
          <p:cNvSpPr txBox="1"/>
          <p:nvPr/>
        </p:nvSpPr>
        <p:spPr>
          <a:xfrm>
            <a:off x="1364566" y="7904145"/>
            <a:ext cx="7665472" cy="1744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4649" lvl="1" marL="66929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b="1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2000년 올림픽 개최 시 기록 종목 7.9%로 정점 달성 </a:t>
            </a:r>
            <a:endParaRPr/>
          </a:p>
          <a:p>
            <a:pPr indent="-334649" lvl="1" marL="66929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b="1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직전 년도보다 수치를 끌어올리며, 개최국 이점을 극대화</a:t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1687565" y="2202792"/>
            <a:ext cx="7019473" cy="5264605"/>
          </a:xfrm>
          <a:custGeom>
            <a:rect b="b" l="l" r="r" t="t"/>
            <a:pathLst>
              <a:path extrusionOk="0" h="5264605" w="7019473">
                <a:moveTo>
                  <a:pt x="0" y="0"/>
                </a:moveTo>
                <a:lnTo>
                  <a:pt x="7019473" y="0"/>
                </a:lnTo>
                <a:lnTo>
                  <a:pt x="7019473" y="5264605"/>
                </a:lnTo>
                <a:lnTo>
                  <a:pt x="0" y="52646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8251" l="-251" r="-205952" t="-119673"/>
            </a:stretch>
          </a:blipFill>
          <a:ln>
            <a:noFill/>
          </a:ln>
        </p:spPr>
      </p:sp>
      <p:sp>
        <p:nvSpPr>
          <p:cNvPr id="206" name="Google Shape;206;p7"/>
          <p:cNvSpPr/>
          <p:nvPr/>
        </p:nvSpPr>
        <p:spPr>
          <a:xfrm>
            <a:off x="10074033" y="2202792"/>
            <a:ext cx="7019473" cy="5264605"/>
          </a:xfrm>
          <a:custGeom>
            <a:rect b="b" l="l" r="r" t="t"/>
            <a:pathLst>
              <a:path extrusionOk="0" h="5264605" w="7019473">
                <a:moveTo>
                  <a:pt x="0" y="0"/>
                </a:moveTo>
                <a:lnTo>
                  <a:pt x="7019473" y="0"/>
                </a:lnTo>
                <a:lnTo>
                  <a:pt x="7019473" y="5264605"/>
                </a:lnTo>
                <a:lnTo>
                  <a:pt x="0" y="52646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98615" l="-208451" r="-915" t="-22597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0D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" name="Google Shape;211;p8"/>
          <p:cNvCxnSpPr/>
          <p:nvPr/>
        </p:nvCxnSpPr>
        <p:spPr>
          <a:xfrm rot="10800000">
            <a:off x="740032" y="430923"/>
            <a:ext cx="0" cy="9425155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8"/>
          <p:cNvSpPr/>
          <p:nvPr/>
        </p:nvSpPr>
        <p:spPr>
          <a:xfrm>
            <a:off x="1157810" y="2202792"/>
            <a:ext cx="10377330" cy="7860828"/>
          </a:xfrm>
          <a:custGeom>
            <a:rect b="b" l="l" r="r" t="t"/>
            <a:pathLst>
              <a:path extrusionOk="0" h="7860828" w="10377330">
                <a:moveTo>
                  <a:pt x="0" y="0"/>
                </a:moveTo>
                <a:lnTo>
                  <a:pt x="10377330" y="0"/>
                </a:lnTo>
                <a:lnTo>
                  <a:pt x="10377330" y="7860828"/>
                </a:lnTo>
                <a:lnTo>
                  <a:pt x="0" y="78608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8"/>
          <p:cNvSpPr txBox="1"/>
          <p:nvPr/>
        </p:nvSpPr>
        <p:spPr>
          <a:xfrm>
            <a:off x="1028700" y="497598"/>
            <a:ext cx="16002675" cy="1028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 올림픽 개최국별 메달 점유율 비교</a:t>
            </a:r>
            <a:endParaRPr/>
          </a:p>
        </p:txBody>
      </p:sp>
      <p:sp>
        <p:nvSpPr>
          <p:cNvPr id="214" name="Google Shape;214;p8"/>
          <p:cNvSpPr txBox="1"/>
          <p:nvPr/>
        </p:nvSpPr>
        <p:spPr>
          <a:xfrm>
            <a:off x="1028700" y="1555056"/>
            <a:ext cx="16002675" cy="647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5775" lvl="1" marL="9715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65A62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데이터 시각화 및 분석 - 동계</a:t>
            </a:r>
            <a:endParaRPr/>
          </a:p>
        </p:txBody>
      </p:sp>
      <p:sp>
        <p:nvSpPr>
          <p:cNvPr id="215" name="Google Shape;215;p8"/>
          <p:cNvSpPr txBox="1"/>
          <p:nvPr/>
        </p:nvSpPr>
        <p:spPr>
          <a:xfrm>
            <a:off x="11725640" y="4523412"/>
            <a:ext cx="7016935" cy="24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전반적으로 개최국일 때</a:t>
            </a:r>
            <a:endParaRPr/>
          </a:p>
          <a:p>
            <a:pPr indent="0" lvl="0" marL="0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메달 점유율이 높은 경향,</a:t>
            </a:r>
            <a:endParaRPr/>
          </a:p>
          <a:p>
            <a:pPr indent="0" lvl="0" marL="0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국가별 주력 종목 차이 존재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0D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"/>
          <p:cNvSpPr txBox="1"/>
          <p:nvPr/>
        </p:nvSpPr>
        <p:spPr>
          <a:xfrm>
            <a:off x="827717" y="202378"/>
            <a:ext cx="16002675" cy="1028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 올림픽 개최국별 메달 점유율 비교</a:t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485925" y="2424665"/>
            <a:ext cx="10545954" cy="6954880"/>
          </a:xfrm>
          <a:custGeom>
            <a:rect b="b" l="l" r="r" t="t"/>
            <a:pathLst>
              <a:path extrusionOk="0" h="6954880" w="10545954">
                <a:moveTo>
                  <a:pt x="0" y="0"/>
                </a:moveTo>
                <a:lnTo>
                  <a:pt x="10545954" y="0"/>
                </a:lnTo>
                <a:lnTo>
                  <a:pt x="10545954" y="6954880"/>
                </a:lnTo>
                <a:lnTo>
                  <a:pt x="0" y="6954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4057"/>
            </a:stretch>
          </a:blipFill>
          <a:ln>
            <a:noFill/>
          </a:ln>
        </p:spPr>
      </p:sp>
      <p:sp>
        <p:nvSpPr>
          <p:cNvPr id="222" name="Google Shape;222;p9"/>
          <p:cNvSpPr txBox="1"/>
          <p:nvPr/>
        </p:nvSpPr>
        <p:spPr>
          <a:xfrm>
            <a:off x="1028700" y="1545530"/>
            <a:ext cx="4854027" cy="584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&lt;판정 종목 우세형&gt;</a:t>
            </a:r>
            <a:endParaRPr/>
          </a:p>
        </p:txBody>
      </p:sp>
      <p:sp>
        <p:nvSpPr>
          <p:cNvPr id="223" name="Google Shape;223;p9"/>
          <p:cNvSpPr txBox="1"/>
          <p:nvPr/>
        </p:nvSpPr>
        <p:spPr>
          <a:xfrm>
            <a:off x="11172141" y="5162550"/>
            <a:ext cx="7379504" cy="2241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판정 종목(피겨, 스노보드 등)에서 높은 점유율을 보임</a:t>
            </a:r>
            <a:endParaRPr/>
          </a:p>
          <a:p>
            <a:pPr indent="0" lvl="0" marL="0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9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9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0D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"/>
          <p:cNvSpPr/>
          <p:nvPr/>
        </p:nvSpPr>
        <p:spPr>
          <a:xfrm>
            <a:off x="293343" y="2555825"/>
            <a:ext cx="5448911" cy="5826274"/>
          </a:xfrm>
          <a:custGeom>
            <a:rect b="b" l="l" r="r" t="t"/>
            <a:pathLst>
              <a:path extrusionOk="0" h="5826274" w="5448911">
                <a:moveTo>
                  <a:pt x="0" y="0"/>
                </a:moveTo>
                <a:lnTo>
                  <a:pt x="5448911" y="0"/>
                </a:lnTo>
                <a:lnTo>
                  <a:pt x="5448911" y="5826274"/>
                </a:lnTo>
                <a:lnTo>
                  <a:pt x="0" y="5826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96920" t="-6912"/>
            </a:stretch>
          </a:blipFill>
          <a:ln>
            <a:noFill/>
          </a:ln>
        </p:spPr>
      </p:sp>
      <p:sp>
        <p:nvSpPr>
          <p:cNvPr id="229" name="Google Shape;229;p10"/>
          <p:cNvSpPr/>
          <p:nvPr/>
        </p:nvSpPr>
        <p:spPr>
          <a:xfrm>
            <a:off x="5742254" y="2555825"/>
            <a:ext cx="5505562" cy="5826274"/>
          </a:xfrm>
          <a:custGeom>
            <a:rect b="b" l="l" r="r" t="t"/>
            <a:pathLst>
              <a:path extrusionOk="0" h="5826274" w="5505562">
                <a:moveTo>
                  <a:pt x="0" y="0"/>
                </a:moveTo>
                <a:lnTo>
                  <a:pt x="5505562" y="0"/>
                </a:lnTo>
                <a:lnTo>
                  <a:pt x="5505562" y="5826274"/>
                </a:lnTo>
                <a:lnTo>
                  <a:pt x="0" y="5826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10"/>
          <p:cNvSpPr txBox="1"/>
          <p:nvPr/>
        </p:nvSpPr>
        <p:spPr>
          <a:xfrm>
            <a:off x="974100" y="497653"/>
            <a:ext cx="16002675" cy="1028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 올림픽 개최국별 메달 점유율 비교</a:t>
            </a:r>
            <a:endParaRPr/>
          </a:p>
        </p:txBody>
      </p:sp>
      <p:sp>
        <p:nvSpPr>
          <p:cNvPr id="231" name="Google Shape;231;p10"/>
          <p:cNvSpPr txBox="1"/>
          <p:nvPr/>
        </p:nvSpPr>
        <p:spPr>
          <a:xfrm>
            <a:off x="1028700" y="1758569"/>
            <a:ext cx="4854027" cy="584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&lt;기록 종목 우세형&gt;</a:t>
            </a:r>
            <a:endParaRPr/>
          </a:p>
        </p:txBody>
      </p:sp>
      <p:sp>
        <p:nvSpPr>
          <p:cNvPr id="232" name="Google Shape;232;p10"/>
          <p:cNvSpPr txBox="1"/>
          <p:nvPr/>
        </p:nvSpPr>
        <p:spPr>
          <a:xfrm>
            <a:off x="11097325" y="4611666"/>
            <a:ext cx="7190675" cy="2404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2016" lvl="1" marL="744033" marR="0" rtl="0" algn="ctr">
              <a:lnSpc>
                <a:spcPct val="10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6"/>
              <a:buFont typeface="Arial"/>
              <a:buChar char="•"/>
            </a:pPr>
            <a:r>
              <a:rPr b="1" i="0" lang="en-US" sz="34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기록 종목( 스피드 스케이팅, 쇼트트랙)에서 높은 점유율</a:t>
            </a:r>
            <a:endParaRPr/>
          </a:p>
          <a:p>
            <a:pPr indent="0" lvl="0" marL="0" marR="0" rtl="0" algn="ctr">
              <a:lnSpc>
                <a:spcPct val="10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4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2016" lvl="1" marL="744033" marR="0" rtl="0" algn="ctr">
              <a:lnSpc>
                <a:spcPct val="10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6"/>
              <a:buFont typeface="Arial"/>
              <a:buChar char="•"/>
            </a:pPr>
            <a:r>
              <a:rPr b="1" i="0" lang="en-US" sz="34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개최 여부와 상관없이 유지되는</a:t>
            </a:r>
            <a:endParaRPr/>
          </a:p>
          <a:p>
            <a:pPr indent="0" lvl="0" marL="0" marR="0" rtl="0" algn="ctr">
              <a:lnSpc>
                <a:spcPct val="10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'성적의 하한선' 높음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0D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11"/>
          <p:cNvCxnSpPr/>
          <p:nvPr/>
        </p:nvCxnSpPr>
        <p:spPr>
          <a:xfrm rot="10800000">
            <a:off x="740032" y="430923"/>
            <a:ext cx="0" cy="9425155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8" name="Google Shape;238;p11"/>
          <p:cNvSpPr/>
          <p:nvPr/>
        </p:nvSpPr>
        <p:spPr>
          <a:xfrm>
            <a:off x="1392215" y="2390144"/>
            <a:ext cx="7637822" cy="4982813"/>
          </a:xfrm>
          <a:custGeom>
            <a:rect b="b" l="l" r="r" t="t"/>
            <a:pathLst>
              <a:path extrusionOk="0" h="4982813" w="7637822">
                <a:moveTo>
                  <a:pt x="0" y="0"/>
                </a:moveTo>
                <a:lnTo>
                  <a:pt x="7637822" y="0"/>
                </a:lnTo>
                <a:lnTo>
                  <a:pt x="7637822" y="4982813"/>
                </a:lnTo>
                <a:lnTo>
                  <a:pt x="0" y="49828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14" l="-1846" r="0" t="-1614"/>
            </a:stretch>
          </a:blipFill>
          <a:ln>
            <a:noFill/>
          </a:ln>
        </p:spPr>
      </p:sp>
      <p:sp>
        <p:nvSpPr>
          <p:cNvPr id="239" name="Google Shape;239;p11"/>
          <p:cNvSpPr/>
          <p:nvPr/>
        </p:nvSpPr>
        <p:spPr>
          <a:xfrm>
            <a:off x="9666442" y="2425830"/>
            <a:ext cx="7750063" cy="4982813"/>
          </a:xfrm>
          <a:custGeom>
            <a:rect b="b" l="l" r="r" t="t"/>
            <a:pathLst>
              <a:path extrusionOk="0" h="4982813" w="7750063">
                <a:moveTo>
                  <a:pt x="0" y="0"/>
                </a:moveTo>
                <a:lnTo>
                  <a:pt x="7750063" y="0"/>
                </a:lnTo>
                <a:lnTo>
                  <a:pt x="7750063" y="4982813"/>
                </a:lnTo>
                <a:lnTo>
                  <a:pt x="0" y="49828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033" l="0" r="0" t="-1034"/>
            </a:stretch>
          </a:blipFill>
          <a:ln>
            <a:noFill/>
          </a:ln>
        </p:spPr>
      </p:sp>
      <p:grpSp>
        <p:nvGrpSpPr>
          <p:cNvPr id="240" name="Google Shape;240;p11"/>
          <p:cNvGrpSpPr/>
          <p:nvPr/>
        </p:nvGrpSpPr>
        <p:grpSpPr>
          <a:xfrm>
            <a:off x="1257728" y="7542373"/>
            <a:ext cx="7819580" cy="2313704"/>
            <a:chOff x="0" y="-38100"/>
            <a:chExt cx="2059478" cy="609371"/>
          </a:xfrm>
        </p:grpSpPr>
        <p:sp>
          <p:nvSpPr>
            <p:cNvPr id="241" name="Google Shape;241;p11"/>
            <p:cNvSpPr/>
            <p:nvPr/>
          </p:nvSpPr>
          <p:spPr>
            <a:xfrm>
              <a:off x="0" y="0"/>
              <a:ext cx="2059478" cy="571271"/>
            </a:xfrm>
            <a:custGeom>
              <a:rect b="b" l="l" r="r" t="t"/>
              <a:pathLst>
                <a:path extrusionOk="0" h="571271" w="2059478">
                  <a:moveTo>
                    <a:pt x="50493" y="0"/>
                  </a:moveTo>
                  <a:lnTo>
                    <a:pt x="2008984" y="0"/>
                  </a:lnTo>
                  <a:cubicBezTo>
                    <a:pt x="2022376" y="0"/>
                    <a:pt x="2035219" y="5320"/>
                    <a:pt x="2044689" y="14789"/>
                  </a:cubicBezTo>
                  <a:cubicBezTo>
                    <a:pt x="2054158" y="24259"/>
                    <a:pt x="2059478" y="37102"/>
                    <a:pt x="2059478" y="50493"/>
                  </a:cubicBezTo>
                  <a:lnTo>
                    <a:pt x="2059478" y="520777"/>
                  </a:lnTo>
                  <a:cubicBezTo>
                    <a:pt x="2059478" y="534169"/>
                    <a:pt x="2054158" y="547012"/>
                    <a:pt x="2044689" y="556481"/>
                  </a:cubicBezTo>
                  <a:cubicBezTo>
                    <a:pt x="2035219" y="565951"/>
                    <a:pt x="2022376" y="571271"/>
                    <a:pt x="2008984" y="571271"/>
                  </a:cubicBezTo>
                  <a:lnTo>
                    <a:pt x="50493" y="571271"/>
                  </a:lnTo>
                  <a:cubicBezTo>
                    <a:pt x="37102" y="571271"/>
                    <a:pt x="24259" y="565951"/>
                    <a:pt x="14789" y="556481"/>
                  </a:cubicBezTo>
                  <a:cubicBezTo>
                    <a:pt x="5320" y="547012"/>
                    <a:pt x="0" y="534169"/>
                    <a:pt x="0" y="520777"/>
                  </a:cubicBezTo>
                  <a:lnTo>
                    <a:pt x="0" y="50493"/>
                  </a:lnTo>
                  <a:cubicBezTo>
                    <a:pt x="0" y="37102"/>
                    <a:pt x="5320" y="24259"/>
                    <a:pt x="14789" y="14789"/>
                  </a:cubicBezTo>
                  <a:cubicBezTo>
                    <a:pt x="24259" y="5320"/>
                    <a:pt x="37102" y="0"/>
                    <a:pt x="50493" y="0"/>
                  </a:cubicBezTo>
                  <a:close/>
                </a:path>
              </a:pathLst>
            </a:custGeom>
            <a:solidFill>
              <a:srgbClr val="C1C6D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1"/>
            <p:cNvSpPr txBox="1"/>
            <p:nvPr/>
          </p:nvSpPr>
          <p:spPr>
            <a:xfrm>
              <a:off x="0" y="-38100"/>
              <a:ext cx="2059478" cy="6093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p11"/>
          <p:cNvSpPr txBox="1"/>
          <p:nvPr/>
        </p:nvSpPr>
        <p:spPr>
          <a:xfrm>
            <a:off x="1028700" y="497598"/>
            <a:ext cx="16002675" cy="1028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 올림픽 개최국별 메달 점유율 비교</a:t>
            </a:r>
            <a:endParaRPr/>
          </a:p>
        </p:txBody>
      </p:sp>
      <p:sp>
        <p:nvSpPr>
          <p:cNvPr id="244" name="Google Shape;244;p11"/>
          <p:cNvSpPr txBox="1"/>
          <p:nvPr/>
        </p:nvSpPr>
        <p:spPr>
          <a:xfrm>
            <a:off x="1028700" y="1555056"/>
            <a:ext cx="16002675" cy="647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5775" lvl="1" marL="9715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65A62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데이터 시각화 및 분석 - 동계</a:t>
            </a:r>
            <a:endParaRPr/>
          </a:p>
        </p:txBody>
      </p:sp>
      <p:grpSp>
        <p:nvGrpSpPr>
          <p:cNvPr id="245" name="Google Shape;245;p11"/>
          <p:cNvGrpSpPr/>
          <p:nvPr/>
        </p:nvGrpSpPr>
        <p:grpSpPr>
          <a:xfrm>
            <a:off x="9666442" y="7542373"/>
            <a:ext cx="7819580" cy="2313704"/>
            <a:chOff x="0" y="-38100"/>
            <a:chExt cx="2059478" cy="609371"/>
          </a:xfrm>
        </p:grpSpPr>
        <p:sp>
          <p:nvSpPr>
            <p:cNvPr id="246" name="Google Shape;246;p11"/>
            <p:cNvSpPr/>
            <p:nvPr/>
          </p:nvSpPr>
          <p:spPr>
            <a:xfrm>
              <a:off x="0" y="0"/>
              <a:ext cx="2059478" cy="571271"/>
            </a:xfrm>
            <a:custGeom>
              <a:rect b="b" l="l" r="r" t="t"/>
              <a:pathLst>
                <a:path extrusionOk="0" h="571271" w="2059478">
                  <a:moveTo>
                    <a:pt x="50493" y="0"/>
                  </a:moveTo>
                  <a:lnTo>
                    <a:pt x="2008984" y="0"/>
                  </a:lnTo>
                  <a:cubicBezTo>
                    <a:pt x="2022376" y="0"/>
                    <a:pt x="2035219" y="5320"/>
                    <a:pt x="2044689" y="14789"/>
                  </a:cubicBezTo>
                  <a:cubicBezTo>
                    <a:pt x="2054158" y="24259"/>
                    <a:pt x="2059478" y="37102"/>
                    <a:pt x="2059478" y="50493"/>
                  </a:cubicBezTo>
                  <a:lnTo>
                    <a:pt x="2059478" y="520777"/>
                  </a:lnTo>
                  <a:cubicBezTo>
                    <a:pt x="2059478" y="534169"/>
                    <a:pt x="2054158" y="547012"/>
                    <a:pt x="2044689" y="556481"/>
                  </a:cubicBezTo>
                  <a:cubicBezTo>
                    <a:pt x="2035219" y="565951"/>
                    <a:pt x="2022376" y="571271"/>
                    <a:pt x="2008984" y="571271"/>
                  </a:cubicBezTo>
                  <a:lnTo>
                    <a:pt x="50493" y="571271"/>
                  </a:lnTo>
                  <a:cubicBezTo>
                    <a:pt x="37102" y="571271"/>
                    <a:pt x="24259" y="565951"/>
                    <a:pt x="14789" y="556481"/>
                  </a:cubicBezTo>
                  <a:cubicBezTo>
                    <a:pt x="5320" y="547012"/>
                    <a:pt x="0" y="534169"/>
                    <a:pt x="0" y="520777"/>
                  </a:cubicBezTo>
                  <a:lnTo>
                    <a:pt x="0" y="50493"/>
                  </a:lnTo>
                  <a:cubicBezTo>
                    <a:pt x="0" y="37102"/>
                    <a:pt x="5320" y="24259"/>
                    <a:pt x="14789" y="14789"/>
                  </a:cubicBezTo>
                  <a:cubicBezTo>
                    <a:pt x="24259" y="5320"/>
                    <a:pt x="37102" y="0"/>
                    <a:pt x="50493" y="0"/>
                  </a:cubicBezTo>
                  <a:close/>
                </a:path>
              </a:pathLst>
            </a:custGeom>
            <a:solidFill>
              <a:srgbClr val="C1C6D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1"/>
            <p:cNvSpPr txBox="1"/>
            <p:nvPr/>
          </p:nvSpPr>
          <p:spPr>
            <a:xfrm>
              <a:off x="0" y="-38100"/>
              <a:ext cx="2059478" cy="6093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p11"/>
          <p:cNvSpPr txBox="1"/>
          <p:nvPr/>
        </p:nvSpPr>
        <p:spPr>
          <a:xfrm>
            <a:off x="9751033" y="8118458"/>
            <a:ext cx="7665472" cy="131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4649" lvl="1" marL="66929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b="1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기록 종목(파란색)이 압도적임</a:t>
            </a:r>
            <a:endParaRPr/>
          </a:p>
          <a:p>
            <a:pPr indent="-334649" lvl="1" marL="66929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b="1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2018년도 개최국일 당시 기록 종목에서 7.3%로 최고치 기록</a:t>
            </a:r>
            <a:endParaRPr/>
          </a:p>
        </p:txBody>
      </p:sp>
      <p:sp>
        <p:nvSpPr>
          <p:cNvPr id="249" name="Google Shape;249;p11"/>
          <p:cNvSpPr txBox="1"/>
          <p:nvPr/>
        </p:nvSpPr>
        <p:spPr>
          <a:xfrm>
            <a:off x="1364566" y="8118458"/>
            <a:ext cx="7665472" cy="131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4649" lvl="1" marL="66929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b="1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판정 종목(주황색)이 압도적임</a:t>
            </a:r>
            <a:endParaRPr/>
          </a:p>
          <a:p>
            <a:pPr indent="-334649" lvl="1" marL="66929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b="1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1998년도 개최국일 당시 판정 종목에서 11.1%로 최고치 기록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0D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Google Shape;254;p12"/>
          <p:cNvCxnSpPr/>
          <p:nvPr/>
        </p:nvCxnSpPr>
        <p:spPr>
          <a:xfrm rot="10800000">
            <a:off x="740032" y="430923"/>
            <a:ext cx="0" cy="9425155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12"/>
          <p:cNvSpPr/>
          <p:nvPr/>
        </p:nvSpPr>
        <p:spPr>
          <a:xfrm>
            <a:off x="1266968" y="2382087"/>
            <a:ext cx="7663203" cy="5000240"/>
          </a:xfrm>
          <a:custGeom>
            <a:rect b="b" l="l" r="r" t="t"/>
            <a:pathLst>
              <a:path extrusionOk="0" h="5000240" w="7663203">
                <a:moveTo>
                  <a:pt x="0" y="0"/>
                </a:moveTo>
                <a:lnTo>
                  <a:pt x="7663203" y="0"/>
                </a:lnTo>
                <a:lnTo>
                  <a:pt x="7663203" y="5000240"/>
                </a:lnTo>
                <a:lnTo>
                  <a:pt x="0" y="50002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12"/>
          <p:cNvSpPr/>
          <p:nvPr/>
        </p:nvSpPr>
        <p:spPr>
          <a:xfrm>
            <a:off x="9680270" y="2382087"/>
            <a:ext cx="7579030" cy="5000240"/>
          </a:xfrm>
          <a:custGeom>
            <a:rect b="b" l="l" r="r" t="t"/>
            <a:pathLst>
              <a:path extrusionOk="0" h="5000240" w="7579030">
                <a:moveTo>
                  <a:pt x="0" y="0"/>
                </a:moveTo>
                <a:lnTo>
                  <a:pt x="7579030" y="0"/>
                </a:lnTo>
                <a:lnTo>
                  <a:pt x="7579030" y="5000240"/>
                </a:lnTo>
                <a:lnTo>
                  <a:pt x="0" y="50002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-1174"/>
            </a:stretch>
          </a:blipFill>
          <a:ln>
            <a:noFill/>
          </a:ln>
        </p:spPr>
      </p:sp>
      <p:sp>
        <p:nvSpPr>
          <p:cNvPr id="257" name="Google Shape;257;p12"/>
          <p:cNvSpPr txBox="1"/>
          <p:nvPr/>
        </p:nvSpPr>
        <p:spPr>
          <a:xfrm>
            <a:off x="1028700" y="497598"/>
            <a:ext cx="16002675" cy="1028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 올림픽 개최국별 메달 점유율 비교</a:t>
            </a:r>
            <a:endParaRPr/>
          </a:p>
        </p:txBody>
      </p:sp>
      <p:sp>
        <p:nvSpPr>
          <p:cNvPr id="258" name="Google Shape;258;p12"/>
          <p:cNvSpPr txBox="1"/>
          <p:nvPr/>
        </p:nvSpPr>
        <p:spPr>
          <a:xfrm>
            <a:off x="1028700" y="1555056"/>
            <a:ext cx="16002675" cy="647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5775" lvl="1" marL="9715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65A62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데이터 시각화 및 분석 - 동계</a:t>
            </a:r>
            <a:endParaRPr/>
          </a:p>
        </p:txBody>
      </p:sp>
      <p:grpSp>
        <p:nvGrpSpPr>
          <p:cNvPr id="259" name="Google Shape;259;p12"/>
          <p:cNvGrpSpPr/>
          <p:nvPr/>
        </p:nvGrpSpPr>
        <p:grpSpPr>
          <a:xfrm>
            <a:off x="1266968" y="7542373"/>
            <a:ext cx="7663203" cy="2419451"/>
            <a:chOff x="0" y="-38100"/>
            <a:chExt cx="2018292" cy="637222"/>
          </a:xfrm>
        </p:grpSpPr>
        <p:sp>
          <p:nvSpPr>
            <p:cNvPr id="260" name="Google Shape;260;p12"/>
            <p:cNvSpPr/>
            <p:nvPr/>
          </p:nvSpPr>
          <p:spPr>
            <a:xfrm>
              <a:off x="0" y="0"/>
              <a:ext cx="2018292" cy="599122"/>
            </a:xfrm>
            <a:custGeom>
              <a:rect b="b" l="l" r="r" t="t"/>
              <a:pathLst>
                <a:path extrusionOk="0" h="599122" w="2018292">
                  <a:moveTo>
                    <a:pt x="51524" y="0"/>
                  </a:moveTo>
                  <a:lnTo>
                    <a:pt x="1966769" y="0"/>
                  </a:lnTo>
                  <a:cubicBezTo>
                    <a:pt x="1980433" y="0"/>
                    <a:pt x="1993539" y="5428"/>
                    <a:pt x="2003201" y="15091"/>
                  </a:cubicBezTo>
                  <a:cubicBezTo>
                    <a:pt x="2012864" y="24754"/>
                    <a:pt x="2018292" y="37859"/>
                    <a:pt x="2018292" y="51524"/>
                  </a:cubicBezTo>
                  <a:lnTo>
                    <a:pt x="2018292" y="547598"/>
                  </a:lnTo>
                  <a:cubicBezTo>
                    <a:pt x="2018292" y="576054"/>
                    <a:pt x="1995224" y="599122"/>
                    <a:pt x="1966769" y="599122"/>
                  </a:cubicBezTo>
                  <a:lnTo>
                    <a:pt x="51524" y="599122"/>
                  </a:lnTo>
                  <a:cubicBezTo>
                    <a:pt x="23068" y="599122"/>
                    <a:pt x="0" y="576054"/>
                    <a:pt x="0" y="547598"/>
                  </a:cubicBezTo>
                  <a:lnTo>
                    <a:pt x="0" y="51524"/>
                  </a:lnTo>
                  <a:cubicBezTo>
                    <a:pt x="0" y="23068"/>
                    <a:pt x="23068" y="0"/>
                    <a:pt x="51524" y="0"/>
                  </a:cubicBezTo>
                  <a:close/>
                </a:path>
              </a:pathLst>
            </a:custGeom>
            <a:solidFill>
              <a:srgbClr val="C1C6D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2"/>
            <p:cNvSpPr txBox="1"/>
            <p:nvPr/>
          </p:nvSpPr>
          <p:spPr>
            <a:xfrm>
              <a:off x="0" y="-38100"/>
              <a:ext cx="2018292" cy="637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2" name="Google Shape;262;p12"/>
          <p:cNvGrpSpPr/>
          <p:nvPr/>
        </p:nvGrpSpPr>
        <p:grpSpPr>
          <a:xfrm>
            <a:off x="9680270" y="7542373"/>
            <a:ext cx="7579030" cy="2419451"/>
            <a:chOff x="0" y="-38100"/>
            <a:chExt cx="1996123" cy="637222"/>
          </a:xfrm>
        </p:grpSpPr>
        <p:sp>
          <p:nvSpPr>
            <p:cNvPr id="263" name="Google Shape;263;p12"/>
            <p:cNvSpPr/>
            <p:nvPr/>
          </p:nvSpPr>
          <p:spPr>
            <a:xfrm>
              <a:off x="0" y="0"/>
              <a:ext cx="1996123" cy="599122"/>
            </a:xfrm>
            <a:custGeom>
              <a:rect b="b" l="l" r="r" t="t"/>
              <a:pathLst>
                <a:path extrusionOk="0" h="599122" w="1996123">
                  <a:moveTo>
                    <a:pt x="52096" y="0"/>
                  </a:moveTo>
                  <a:lnTo>
                    <a:pt x="1944027" y="0"/>
                  </a:lnTo>
                  <a:cubicBezTo>
                    <a:pt x="1972799" y="0"/>
                    <a:pt x="1996123" y="23324"/>
                    <a:pt x="1996123" y="52096"/>
                  </a:cubicBezTo>
                  <a:lnTo>
                    <a:pt x="1996123" y="547025"/>
                  </a:lnTo>
                  <a:cubicBezTo>
                    <a:pt x="1996123" y="575797"/>
                    <a:pt x="1972799" y="599122"/>
                    <a:pt x="1944027" y="599122"/>
                  </a:cubicBezTo>
                  <a:lnTo>
                    <a:pt x="52096" y="599122"/>
                  </a:lnTo>
                  <a:cubicBezTo>
                    <a:pt x="23324" y="599122"/>
                    <a:pt x="0" y="575797"/>
                    <a:pt x="0" y="547025"/>
                  </a:cubicBezTo>
                  <a:lnTo>
                    <a:pt x="0" y="52096"/>
                  </a:lnTo>
                  <a:cubicBezTo>
                    <a:pt x="0" y="23324"/>
                    <a:pt x="23324" y="0"/>
                    <a:pt x="52096" y="0"/>
                  </a:cubicBezTo>
                  <a:close/>
                </a:path>
              </a:pathLst>
            </a:custGeom>
            <a:solidFill>
              <a:srgbClr val="C1C6D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2"/>
            <p:cNvSpPr txBox="1"/>
            <p:nvPr/>
          </p:nvSpPr>
          <p:spPr>
            <a:xfrm>
              <a:off x="0" y="-38100"/>
              <a:ext cx="1996123" cy="637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" name="Google Shape;265;p12"/>
          <p:cNvSpPr txBox="1"/>
          <p:nvPr/>
        </p:nvSpPr>
        <p:spPr>
          <a:xfrm>
            <a:off x="1364566" y="8171331"/>
            <a:ext cx="7665472" cy="131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4649" lvl="1" marL="66929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b="1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2002년 개최국일 당시 판정 종목(주황색) 점유율이 24.4%로 최고치 기록</a:t>
            </a:r>
            <a:endParaRPr/>
          </a:p>
          <a:p>
            <a:pPr indent="-334649" lvl="1" marL="66929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</a:pPr>
            <a:r>
              <a:rPr b="1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판정 / 기록 종목 모두 높은 수준 유지</a:t>
            </a:r>
            <a:endParaRPr/>
          </a:p>
        </p:txBody>
      </p:sp>
      <p:sp>
        <p:nvSpPr>
          <p:cNvPr id="266" name="Google Shape;266;p12"/>
          <p:cNvSpPr txBox="1"/>
          <p:nvPr/>
        </p:nvSpPr>
        <p:spPr>
          <a:xfrm>
            <a:off x="9553912" y="7967251"/>
            <a:ext cx="7665472" cy="1714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4" lvl="1" marL="64770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1994년 개최국일 당시 판정 종목 점유율이 15.2%로  최고치를 기록, 개최 이후에도 꾸준히 10~15%대 점유율을 유지</a:t>
            </a:r>
            <a:endParaRPr/>
          </a:p>
          <a:p>
            <a:pPr indent="-323854" lvl="1" marL="64770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판정 / 기록 종목 모두 높은 수준 유지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0D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1" name="Google Shape;271;p13"/>
          <p:cNvCxnSpPr/>
          <p:nvPr/>
        </p:nvCxnSpPr>
        <p:spPr>
          <a:xfrm rot="10800000">
            <a:off x="740032" y="430923"/>
            <a:ext cx="0" cy="9425155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13"/>
          <p:cNvSpPr/>
          <p:nvPr/>
        </p:nvSpPr>
        <p:spPr>
          <a:xfrm>
            <a:off x="1028700" y="2202774"/>
            <a:ext cx="5850783" cy="7350436"/>
          </a:xfrm>
          <a:custGeom>
            <a:rect b="b" l="l" r="r" t="t"/>
            <a:pathLst>
              <a:path extrusionOk="0" h="7350436" w="5850783">
                <a:moveTo>
                  <a:pt x="0" y="0"/>
                </a:moveTo>
                <a:lnTo>
                  <a:pt x="5850783" y="0"/>
                </a:lnTo>
                <a:lnTo>
                  <a:pt x="5850783" y="7350436"/>
                </a:lnTo>
                <a:lnTo>
                  <a:pt x="0" y="73504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496" l="0" r="0" t="-2497"/>
            </a:stretch>
          </a:blipFill>
          <a:ln>
            <a:noFill/>
          </a:ln>
        </p:spPr>
      </p:sp>
      <p:grpSp>
        <p:nvGrpSpPr>
          <p:cNvPr id="273" name="Google Shape;273;p13"/>
          <p:cNvGrpSpPr/>
          <p:nvPr/>
        </p:nvGrpSpPr>
        <p:grpSpPr>
          <a:xfrm>
            <a:off x="2724969" y="2021948"/>
            <a:ext cx="2135424" cy="7531262"/>
            <a:chOff x="0" y="-47625"/>
            <a:chExt cx="562416" cy="1983542"/>
          </a:xfrm>
        </p:grpSpPr>
        <p:sp>
          <p:nvSpPr>
            <p:cNvPr id="274" name="Google Shape;274;p13"/>
            <p:cNvSpPr/>
            <p:nvPr/>
          </p:nvSpPr>
          <p:spPr>
            <a:xfrm>
              <a:off x="0" y="0"/>
              <a:ext cx="562416" cy="1935917"/>
            </a:xfrm>
            <a:custGeom>
              <a:rect b="b" l="l" r="r" t="t"/>
              <a:pathLst>
                <a:path extrusionOk="0" h="1935917" w="562416">
                  <a:moveTo>
                    <a:pt x="61633" y="0"/>
                  </a:moveTo>
                  <a:lnTo>
                    <a:pt x="500783" y="0"/>
                  </a:lnTo>
                  <a:cubicBezTo>
                    <a:pt x="534822" y="0"/>
                    <a:pt x="562416" y="27594"/>
                    <a:pt x="562416" y="61633"/>
                  </a:cubicBezTo>
                  <a:lnTo>
                    <a:pt x="562416" y="1874284"/>
                  </a:lnTo>
                  <a:cubicBezTo>
                    <a:pt x="562416" y="1890630"/>
                    <a:pt x="555923" y="1906307"/>
                    <a:pt x="544364" y="1917865"/>
                  </a:cubicBezTo>
                  <a:cubicBezTo>
                    <a:pt x="532806" y="1929424"/>
                    <a:pt x="517129" y="1935917"/>
                    <a:pt x="500783" y="1935917"/>
                  </a:cubicBezTo>
                  <a:lnTo>
                    <a:pt x="61633" y="1935917"/>
                  </a:lnTo>
                  <a:cubicBezTo>
                    <a:pt x="45287" y="1935917"/>
                    <a:pt x="29610" y="1929424"/>
                    <a:pt x="18052" y="1917865"/>
                  </a:cubicBezTo>
                  <a:cubicBezTo>
                    <a:pt x="6493" y="1906307"/>
                    <a:pt x="0" y="1890630"/>
                    <a:pt x="0" y="1874284"/>
                  </a:cubicBezTo>
                  <a:lnTo>
                    <a:pt x="0" y="61633"/>
                  </a:lnTo>
                  <a:cubicBezTo>
                    <a:pt x="0" y="45287"/>
                    <a:pt x="6493" y="29610"/>
                    <a:pt x="18052" y="18052"/>
                  </a:cubicBezTo>
                  <a:cubicBezTo>
                    <a:pt x="29610" y="6493"/>
                    <a:pt x="45287" y="0"/>
                    <a:pt x="616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42875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3"/>
            <p:cNvSpPr txBox="1"/>
            <p:nvPr/>
          </p:nvSpPr>
          <p:spPr>
            <a:xfrm>
              <a:off x="0" y="-47625"/>
              <a:ext cx="562416" cy="19835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13"/>
          <p:cNvGrpSpPr/>
          <p:nvPr/>
        </p:nvGrpSpPr>
        <p:grpSpPr>
          <a:xfrm>
            <a:off x="8210820" y="5507163"/>
            <a:ext cx="1147222" cy="1147222"/>
            <a:chOff x="0" y="0"/>
            <a:chExt cx="812800" cy="812800"/>
          </a:xfrm>
        </p:grpSpPr>
        <p:sp>
          <p:nvSpPr>
            <p:cNvPr id="277" name="Google Shape;277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278" name="Google Shape;278;p13"/>
            <p:cNvSpPr txBox="1"/>
            <p:nvPr/>
          </p:nvSpPr>
          <p:spPr>
            <a:xfrm>
              <a:off x="0" y="136525"/>
              <a:ext cx="711200" cy="473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p13"/>
          <p:cNvSpPr/>
          <p:nvPr/>
        </p:nvSpPr>
        <p:spPr>
          <a:xfrm>
            <a:off x="10812776" y="2202774"/>
            <a:ext cx="6218599" cy="7350436"/>
          </a:xfrm>
          <a:custGeom>
            <a:rect b="b" l="l" r="r" t="t"/>
            <a:pathLst>
              <a:path extrusionOk="0" h="7350436" w="6218599">
                <a:moveTo>
                  <a:pt x="0" y="0"/>
                </a:moveTo>
                <a:lnTo>
                  <a:pt x="6218599" y="0"/>
                </a:lnTo>
                <a:lnTo>
                  <a:pt x="6218599" y="7350436"/>
                </a:lnTo>
                <a:lnTo>
                  <a:pt x="0" y="73504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0" name="Google Shape;280;p13"/>
          <p:cNvSpPr txBox="1"/>
          <p:nvPr/>
        </p:nvSpPr>
        <p:spPr>
          <a:xfrm>
            <a:off x="1028700" y="497590"/>
            <a:ext cx="17259300" cy="1028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 올림픽 상대 연도 기준 GDP 성장률</a:t>
            </a:r>
            <a:endParaRPr/>
          </a:p>
        </p:txBody>
      </p:sp>
      <p:sp>
        <p:nvSpPr>
          <p:cNvPr id="281" name="Google Shape;281;p13"/>
          <p:cNvSpPr txBox="1"/>
          <p:nvPr/>
        </p:nvSpPr>
        <p:spPr>
          <a:xfrm>
            <a:off x="1028700" y="1555074"/>
            <a:ext cx="160026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5775" lvl="1" marL="9715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65A62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데이터 수집 및 전처리 - 하계</a:t>
            </a:r>
            <a:endParaRPr/>
          </a:p>
        </p:txBody>
      </p:sp>
      <p:sp>
        <p:nvSpPr>
          <p:cNvPr id="282" name="Google Shape;282;p13"/>
          <p:cNvSpPr txBox="1"/>
          <p:nvPr/>
        </p:nvSpPr>
        <p:spPr>
          <a:xfrm>
            <a:off x="9658350" y="1600776"/>
            <a:ext cx="1109488" cy="461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Kaggle</a:t>
            </a:r>
            <a:endParaRPr/>
          </a:p>
        </p:txBody>
      </p:sp>
      <p:grpSp>
        <p:nvGrpSpPr>
          <p:cNvPr id="283" name="Google Shape;283;p13"/>
          <p:cNvGrpSpPr/>
          <p:nvPr/>
        </p:nvGrpSpPr>
        <p:grpSpPr>
          <a:xfrm>
            <a:off x="11589134" y="2021948"/>
            <a:ext cx="5442240" cy="7531262"/>
            <a:chOff x="0" y="-47625"/>
            <a:chExt cx="1433347" cy="1983542"/>
          </a:xfrm>
        </p:grpSpPr>
        <p:sp>
          <p:nvSpPr>
            <p:cNvPr id="284" name="Google Shape;284;p13"/>
            <p:cNvSpPr/>
            <p:nvPr/>
          </p:nvSpPr>
          <p:spPr>
            <a:xfrm>
              <a:off x="0" y="0"/>
              <a:ext cx="1433347" cy="1935917"/>
            </a:xfrm>
            <a:custGeom>
              <a:rect b="b" l="l" r="r" t="t"/>
              <a:pathLst>
                <a:path extrusionOk="0" h="1935917" w="1433347">
                  <a:moveTo>
                    <a:pt x="24184" y="0"/>
                  </a:moveTo>
                  <a:lnTo>
                    <a:pt x="1409164" y="0"/>
                  </a:lnTo>
                  <a:cubicBezTo>
                    <a:pt x="1415578" y="0"/>
                    <a:pt x="1421729" y="2548"/>
                    <a:pt x="1426264" y="7083"/>
                  </a:cubicBezTo>
                  <a:cubicBezTo>
                    <a:pt x="1430799" y="11618"/>
                    <a:pt x="1433347" y="17770"/>
                    <a:pt x="1433347" y="24184"/>
                  </a:cubicBezTo>
                  <a:lnTo>
                    <a:pt x="1433347" y="1911734"/>
                  </a:lnTo>
                  <a:cubicBezTo>
                    <a:pt x="1433347" y="1918148"/>
                    <a:pt x="1430799" y="1924299"/>
                    <a:pt x="1426264" y="1928834"/>
                  </a:cubicBezTo>
                  <a:cubicBezTo>
                    <a:pt x="1421729" y="1933369"/>
                    <a:pt x="1415578" y="1935917"/>
                    <a:pt x="1409164" y="1935917"/>
                  </a:cubicBezTo>
                  <a:lnTo>
                    <a:pt x="24184" y="1935917"/>
                  </a:lnTo>
                  <a:cubicBezTo>
                    <a:pt x="17770" y="1935917"/>
                    <a:pt x="11618" y="1933369"/>
                    <a:pt x="7083" y="1928834"/>
                  </a:cubicBezTo>
                  <a:cubicBezTo>
                    <a:pt x="2548" y="1924299"/>
                    <a:pt x="0" y="1918148"/>
                    <a:pt x="0" y="1911734"/>
                  </a:cubicBezTo>
                  <a:lnTo>
                    <a:pt x="0" y="24184"/>
                  </a:lnTo>
                  <a:cubicBezTo>
                    <a:pt x="0" y="17770"/>
                    <a:pt x="2548" y="11618"/>
                    <a:pt x="7083" y="7083"/>
                  </a:cubicBezTo>
                  <a:cubicBezTo>
                    <a:pt x="11618" y="2548"/>
                    <a:pt x="17770" y="0"/>
                    <a:pt x="2418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42875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3"/>
            <p:cNvSpPr txBox="1"/>
            <p:nvPr/>
          </p:nvSpPr>
          <p:spPr>
            <a:xfrm>
              <a:off x="0" y="-47625"/>
              <a:ext cx="1433347" cy="19835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p13"/>
          <p:cNvSpPr txBox="1"/>
          <p:nvPr/>
        </p:nvSpPr>
        <p:spPr>
          <a:xfrm>
            <a:off x="12092134" y="9647162"/>
            <a:ext cx="3659882" cy="41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개최국 + 개최연도 추출</a:t>
            </a:r>
            <a:endParaRPr/>
          </a:p>
        </p:txBody>
      </p:sp>
      <p:sp>
        <p:nvSpPr>
          <p:cNvPr id="287" name="Google Shape;287;p13"/>
          <p:cNvSpPr txBox="1"/>
          <p:nvPr/>
        </p:nvSpPr>
        <p:spPr>
          <a:xfrm>
            <a:off x="1524274" y="9647162"/>
            <a:ext cx="4859635" cy="41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하계 올림픽 데이터만 불러오기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0D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2" name="Google Shape;292;p14"/>
          <p:cNvCxnSpPr/>
          <p:nvPr/>
        </p:nvCxnSpPr>
        <p:spPr>
          <a:xfrm rot="10800000">
            <a:off x="740032" y="430923"/>
            <a:ext cx="0" cy="9425155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3" name="Google Shape;293;p14"/>
          <p:cNvGrpSpPr/>
          <p:nvPr/>
        </p:nvGrpSpPr>
        <p:grpSpPr>
          <a:xfrm>
            <a:off x="7713912" y="5304381"/>
            <a:ext cx="1147222" cy="1147222"/>
            <a:chOff x="0" y="0"/>
            <a:chExt cx="812800" cy="812800"/>
          </a:xfrm>
        </p:grpSpPr>
        <p:sp>
          <p:nvSpPr>
            <p:cNvPr id="294" name="Google Shape;294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295" name="Google Shape;295;p14"/>
            <p:cNvSpPr txBox="1"/>
            <p:nvPr/>
          </p:nvSpPr>
          <p:spPr>
            <a:xfrm>
              <a:off x="0" y="136525"/>
              <a:ext cx="711200" cy="473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" name="Google Shape;296;p14"/>
          <p:cNvSpPr/>
          <p:nvPr/>
        </p:nvSpPr>
        <p:spPr>
          <a:xfrm>
            <a:off x="1028700" y="2202774"/>
            <a:ext cx="5940763" cy="7350436"/>
          </a:xfrm>
          <a:custGeom>
            <a:rect b="b" l="l" r="r" t="t"/>
            <a:pathLst>
              <a:path extrusionOk="0" h="7350436" w="5940763">
                <a:moveTo>
                  <a:pt x="0" y="0"/>
                </a:moveTo>
                <a:lnTo>
                  <a:pt x="5940763" y="0"/>
                </a:lnTo>
                <a:lnTo>
                  <a:pt x="5940763" y="7350436"/>
                </a:lnTo>
                <a:lnTo>
                  <a:pt x="0" y="73504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14"/>
          <p:cNvSpPr txBox="1"/>
          <p:nvPr/>
        </p:nvSpPr>
        <p:spPr>
          <a:xfrm>
            <a:off x="1028700" y="497590"/>
            <a:ext cx="17259300" cy="1028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 올림픽 상대 연도 기준 GDP 성장률</a:t>
            </a:r>
            <a:endParaRPr/>
          </a:p>
        </p:txBody>
      </p:sp>
      <p:sp>
        <p:nvSpPr>
          <p:cNvPr id="298" name="Google Shape;298;p14"/>
          <p:cNvSpPr txBox="1"/>
          <p:nvPr/>
        </p:nvSpPr>
        <p:spPr>
          <a:xfrm>
            <a:off x="1028700" y="1555074"/>
            <a:ext cx="160026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5775" lvl="1" marL="9715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65A62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데이터 수집 및 전처리 - 하계</a:t>
            </a:r>
            <a:endParaRPr/>
          </a:p>
        </p:txBody>
      </p:sp>
      <p:grpSp>
        <p:nvGrpSpPr>
          <p:cNvPr id="299" name="Google Shape;299;p14"/>
          <p:cNvGrpSpPr/>
          <p:nvPr/>
        </p:nvGrpSpPr>
        <p:grpSpPr>
          <a:xfrm>
            <a:off x="5154787" y="1880996"/>
            <a:ext cx="1814676" cy="7672214"/>
            <a:chOff x="0" y="-47625"/>
            <a:chExt cx="477939" cy="2020665"/>
          </a:xfrm>
        </p:grpSpPr>
        <p:sp>
          <p:nvSpPr>
            <p:cNvPr id="300" name="Google Shape;300;p14"/>
            <p:cNvSpPr/>
            <p:nvPr/>
          </p:nvSpPr>
          <p:spPr>
            <a:xfrm>
              <a:off x="0" y="0"/>
              <a:ext cx="477939" cy="1973040"/>
            </a:xfrm>
            <a:custGeom>
              <a:rect b="b" l="l" r="r" t="t"/>
              <a:pathLst>
                <a:path extrusionOk="0" h="1973040" w="477939">
                  <a:moveTo>
                    <a:pt x="72527" y="0"/>
                  </a:moveTo>
                  <a:lnTo>
                    <a:pt x="405413" y="0"/>
                  </a:lnTo>
                  <a:cubicBezTo>
                    <a:pt x="424648" y="0"/>
                    <a:pt x="443095" y="7641"/>
                    <a:pt x="456697" y="21243"/>
                  </a:cubicBezTo>
                  <a:cubicBezTo>
                    <a:pt x="470298" y="34844"/>
                    <a:pt x="477939" y="53291"/>
                    <a:pt x="477939" y="72527"/>
                  </a:cubicBezTo>
                  <a:lnTo>
                    <a:pt x="477939" y="1900514"/>
                  </a:lnTo>
                  <a:cubicBezTo>
                    <a:pt x="477939" y="1919749"/>
                    <a:pt x="470298" y="1938196"/>
                    <a:pt x="456697" y="1951798"/>
                  </a:cubicBezTo>
                  <a:cubicBezTo>
                    <a:pt x="443095" y="1965399"/>
                    <a:pt x="424648" y="1973040"/>
                    <a:pt x="405413" y="1973040"/>
                  </a:cubicBezTo>
                  <a:lnTo>
                    <a:pt x="72527" y="1973040"/>
                  </a:lnTo>
                  <a:cubicBezTo>
                    <a:pt x="53291" y="1973040"/>
                    <a:pt x="34844" y="1965399"/>
                    <a:pt x="21243" y="1951798"/>
                  </a:cubicBezTo>
                  <a:cubicBezTo>
                    <a:pt x="7641" y="1938196"/>
                    <a:pt x="0" y="1919749"/>
                    <a:pt x="0" y="1900514"/>
                  </a:cubicBezTo>
                  <a:lnTo>
                    <a:pt x="0" y="72527"/>
                  </a:lnTo>
                  <a:cubicBezTo>
                    <a:pt x="0" y="53291"/>
                    <a:pt x="7641" y="34844"/>
                    <a:pt x="21243" y="21243"/>
                  </a:cubicBezTo>
                  <a:cubicBezTo>
                    <a:pt x="34844" y="7641"/>
                    <a:pt x="53291" y="0"/>
                    <a:pt x="7252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42875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4"/>
            <p:cNvSpPr txBox="1"/>
            <p:nvPr/>
          </p:nvSpPr>
          <p:spPr>
            <a:xfrm>
              <a:off x="0" y="-47625"/>
              <a:ext cx="477939" cy="2020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2" name="Google Shape;302;p14"/>
          <p:cNvSpPr/>
          <p:nvPr/>
        </p:nvSpPr>
        <p:spPr>
          <a:xfrm>
            <a:off x="9605582" y="2202774"/>
            <a:ext cx="7653718" cy="7262057"/>
          </a:xfrm>
          <a:custGeom>
            <a:rect b="b" l="l" r="r" t="t"/>
            <a:pathLst>
              <a:path extrusionOk="0" h="7262057" w="7653718">
                <a:moveTo>
                  <a:pt x="0" y="0"/>
                </a:moveTo>
                <a:lnTo>
                  <a:pt x="7653718" y="0"/>
                </a:lnTo>
                <a:lnTo>
                  <a:pt x="7653718" y="7262057"/>
                </a:lnTo>
                <a:lnTo>
                  <a:pt x="0" y="72620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3" name="Google Shape;303;p14"/>
          <p:cNvSpPr txBox="1"/>
          <p:nvPr/>
        </p:nvSpPr>
        <p:spPr>
          <a:xfrm>
            <a:off x="9658350" y="1600776"/>
            <a:ext cx="1109488" cy="461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Kaggle</a:t>
            </a:r>
            <a:endParaRPr/>
          </a:p>
        </p:txBody>
      </p:sp>
      <p:sp>
        <p:nvSpPr>
          <p:cNvPr id="304" name="Google Shape;304;p14"/>
          <p:cNvSpPr txBox="1"/>
          <p:nvPr/>
        </p:nvSpPr>
        <p:spPr>
          <a:xfrm>
            <a:off x="12504994" y="9647162"/>
            <a:ext cx="1854895" cy="41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국가명 통일</a:t>
            </a:r>
            <a:endParaRPr/>
          </a:p>
        </p:txBody>
      </p:sp>
      <p:sp>
        <p:nvSpPr>
          <p:cNvPr id="305" name="Google Shape;305;p14"/>
          <p:cNvSpPr txBox="1"/>
          <p:nvPr/>
        </p:nvSpPr>
        <p:spPr>
          <a:xfrm>
            <a:off x="1661339" y="9647162"/>
            <a:ext cx="4675485" cy="41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1980년 이후 개최국만 남기기</a:t>
            </a:r>
            <a:endParaRPr/>
          </a:p>
        </p:txBody>
      </p:sp>
      <p:grpSp>
        <p:nvGrpSpPr>
          <p:cNvPr id="306" name="Google Shape;306;p14"/>
          <p:cNvGrpSpPr/>
          <p:nvPr/>
        </p:nvGrpSpPr>
        <p:grpSpPr>
          <a:xfrm>
            <a:off x="10019622" y="4088907"/>
            <a:ext cx="2731242" cy="854451"/>
            <a:chOff x="0" y="-47625"/>
            <a:chExt cx="719340" cy="225041"/>
          </a:xfrm>
        </p:grpSpPr>
        <p:sp>
          <p:nvSpPr>
            <p:cNvPr id="307" name="Google Shape;307;p14"/>
            <p:cNvSpPr/>
            <p:nvPr/>
          </p:nvSpPr>
          <p:spPr>
            <a:xfrm>
              <a:off x="0" y="0"/>
              <a:ext cx="719340" cy="177416"/>
            </a:xfrm>
            <a:custGeom>
              <a:rect b="b" l="l" r="r" t="t"/>
              <a:pathLst>
                <a:path extrusionOk="0" h="177416" w="719340">
                  <a:moveTo>
                    <a:pt x="48188" y="0"/>
                  </a:moveTo>
                  <a:lnTo>
                    <a:pt x="671152" y="0"/>
                  </a:lnTo>
                  <a:cubicBezTo>
                    <a:pt x="697765" y="0"/>
                    <a:pt x="719340" y="21574"/>
                    <a:pt x="719340" y="48188"/>
                  </a:cubicBezTo>
                  <a:lnTo>
                    <a:pt x="719340" y="129228"/>
                  </a:lnTo>
                  <a:cubicBezTo>
                    <a:pt x="719340" y="142008"/>
                    <a:pt x="714263" y="154265"/>
                    <a:pt x="705226" y="163302"/>
                  </a:cubicBezTo>
                  <a:cubicBezTo>
                    <a:pt x="696189" y="172339"/>
                    <a:pt x="683932" y="177416"/>
                    <a:pt x="671152" y="177416"/>
                  </a:cubicBezTo>
                  <a:lnTo>
                    <a:pt x="48188" y="177416"/>
                  </a:lnTo>
                  <a:cubicBezTo>
                    <a:pt x="35408" y="177416"/>
                    <a:pt x="23151" y="172339"/>
                    <a:pt x="14114" y="163302"/>
                  </a:cubicBezTo>
                  <a:cubicBezTo>
                    <a:pt x="5077" y="154265"/>
                    <a:pt x="0" y="142008"/>
                    <a:pt x="0" y="129228"/>
                  </a:cubicBezTo>
                  <a:lnTo>
                    <a:pt x="0" y="48188"/>
                  </a:lnTo>
                  <a:cubicBezTo>
                    <a:pt x="0" y="35408"/>
                    <a:pt x="5077" y="23151"/>
                    <a:pt x="14114" y="14114"/>
                  </a:cubicBezTo>
                  <a:cubicBezTo>
                    <a:pt x="23151" y="5077"/>
                    <a:pt x="35408" y="0"/>
                    <a:pt x="481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42875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4"/>
            <p:cNvSpPr txBox="1"/>
            <p:nvPr/>
          </p:nvSpPr>
          <p:spPr>
            <a:xfrm>
              <a:off x="0" y="-47625"/>
              <a:ext cx="719340" cy="2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9" name="Google Shape;309;p14"/>
          <p:cNvGrpSpPr/>
          <p:nvPr/>
        </p:nvGrpSpPr>
        <p:grpSpPr>
          <a:xfrm>
            <a:off x="14359888" y="4119985"/>
            <a:ext cx="2899412" cy="823373"/>
            <a:chOff x="0" y="-47625"/>
            <a:chExt cx="763631" cy="216856"/>
          </a:xfrm>
        </p:grpSpPr>
        <p:sp>
          <p:nvSpPr>
            <p:cNvPr id="310" name="Google Shape;310;p14"/>
            <p:cNvSpPr/>
            <p:nvPr/>
          </p:nvSpPr>
          <p:spPr>
            <a:xfrm>
              <a:off x="0" y="0"/>
              <a:ext cx="763631" cy="169231"/>
            </a:xfrm>
            <a:custGeom>
              <a:rect b="b" l="l" r="r" t="t"/>
              <a:pathLst>
                <a:path extrusionOk="0" h="169231" w="763631">
                  <a:moveTo>
                    <a:pt x="45393" y="0"/>
                  </a:moveTo>
                  <a:lnTo>
                    <a:pt x="718238" y="0"/>
                  </a:lnTo>
                  <a:cubicBezTo>
                    <a:pt x="730277" y="0"/>
                    <a:pt x="741823" y="4782"/>
                    <a:pt x="750336" y="13295"/>
                  </a:cubicBezTo>
                  <a:cubicBezTo>
                    <a:pt x="758849" y="21808"/>
                    <a:pt x="763631" y="33354"/>
                    <a:pt x="763631" y="45393"/>
                  </a:cubicBezTo>
                  <a:lnTo>
                    <a:pt x="763631" y="123838"/>
                  </a:lnTo>
                  <a:cubicBezTo>
                    <a:pt x="763631" y="148907"/>
                    <a:pt x="743308" y="169231"/>
                    <a:pt x="718238" y="169231"/>
                  </a:cubicBezTo>
                  <a:lnTo>
                    <a:pt x="45393" y="169231"/>
                  </a:lnTo>
                  <a:cubicBezTo>
                    <a:pt x="33354" y="169231"/>
                    <a:pt x="21808" y="164448"/>
                    <a:pt x="13295" y="155935"/>
                  </a:cubicBezTo>
                  <a:cubicBezTo>
                    <a:pt x="4782" y="147422"/>
                    <a:pt x="0" y="135877"/>
                    <a:pt x="0" y="123838"/>
                  </a:cubicBezTo>
                  <a:lnTo>
                    <a:pt x="0" y="45393"/>
                  </a:lnTo>
                  <a:cubicBezTo>
                    <a:pt x="0" y="20323"/>
                    <a:pt x="20323" y="0"/>
                    <a:pt x="4539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42875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4"/>
            <p:cNvSpPr txBox="1"/>
            <p:nvPr/>
          </p:nvSpPr>
          <p:spPr>
            <a:xfrm>
              <a:off x="0" y="-47625"/>
              <a:ext cx="763631" cy="2168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2" name="Google Shape;312;p14"/>
          <p:cNvGrpSpPr/>
          <p:nvPr/>
        </p:nvGrpSpPr>
        <p:grpSpPr>
          <a:xfrm>
            <a:off x="9405440" y="7999553"/>
            <a:ext cx="3099554" cy="856203"/>
            <a:chOff x="0" y="-47625"/>
            <a:chExt cx="816343" cy="225502"/>
          </a:xfrm>
        </p:grpSpPr>
        <p:sp>
          <p:nvSpPr>
            <p:cNvPr id="313" name="Google Shape;313;p14"/>
            <p:cNvSpPr/>
            <p:nvPr/>
          </p:nvSpPr>
          <p:spPr>
            <a:xfrm>
              <a:off x="0" y="0"/>
              <a:ext cx="816343" cy="177877"/>
            </a:xfrm>
            <a:custGeom>
              <a:rect b="b" l="l" r="r" t="t"/>
              <a:pathLst>
                <a:path extrusionOk="0" h="177877" w="816343">
                  <a:moveTo>
                    <a:pt x="42462" y="0"/>
                  </a:moveTo>
                  <a:lnTo>
                    <a:pt x="773882" y="0"/>
                  </a:lnTo>
                  <a:cubicBezTo>
                    <a:pt x="785143" y="0"/>
                    <a:pt x="795944" y="4474"/>
                    <a:pt x="803907" y="12437"/>
                  </a:cubicBezTo>
                  <a:cubicBezTo>
                    <a:pt x="811870" y="20400"/>
                    <a:pt x="816343" y="31200"/>
                    <a:pt x="816343" y="42462"/>
                  </a:cubicBezTo>
                  <a:lnTo>
                    <a:pt x="816343" y="135415"/>
                  </a:lnTo>
                  <a:cubicBezTo>
                    <a:pt x="816343" y="146677"/>
                    <a:pt x="811870" y="157477"/>
                    <a:pt x="803907" y="165440"/>
                  </a:cubicBezTo>
                  <a:cubicBezTo>
                    <a:pt x="795944" y="173403"/>
                    <a:pt x="785143" y="177877"/>
                    <a:pt x="773882" y="177877"/>
                  </a:cubicBezTo>
                  <a:lnTo>
                    <a:pt x="42462" y="177877"/>
                  </a:lnTo>
                  <a:cubicBezTo>
                    <a:pt x="31200" y="177877"/>
                    <a:pt x="20400" y="173403"/>
                    <a:pt x="12437" y="165440"/>
                  </a:cubicBezTo>
                  <a:cubicBezTo>
                    <a:pt x="4474" y="157477"/>
                    <a:pt x="0" y="146677"/>
                    <a:pt x="0" y="135415"/>
                  </a:cubicBezTo>
                  <a:lnTo>
                    <a:pt x="0" y="42462"/>
                  </a:lnTo>
                  <a:cubicBezTo>
                    <a:pt x="0" y="31200"/>
                    <a:pt x="4474" y="20400"/>
                    <a:pt x="12437" y="12437"/>
                  </a:cubicBezTo>
                  <a:cubicBezTo>
                    <a:pt x="20400" y="4474"/>
                    <a:pt x="31200" y="0"/>
                    <a:pt x="4246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42875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4"/>
            <p:cNvSpPr txBox="1"/>
            <p:nvPr/>
          </p:nvSpPr>
          <p:spPr>
            <a:xfrm>
              <a:off x="0" y="-47625"/>
              <a:ext cx="816343" cy="2255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5" name="Google Shape;315;p14"/>
          <p:cNvGrpSpPr/>
          <p:nvPr/>
        </p:nvGrpSpPr>
        <p:grpSpPr>
          <a:xfrm>
            <a:off x="14943394" y="8001304"/>
            <a:ext cx="2315906" cy="925548"/>
            <a:chOff x="0" y="-47625"/>
            <a:chExt cx="609951" cy="243765"/>
          </a:xfrm>
        </p:grpSpPr>
        <p:sp>
          <p:nvSpPr>
            <p:cNvPr id="316" name="Google Shape;316;p14"/>
            <p:cNvSpPr/>
            <p:nvPr/>
          </p:nvSpPr>
          <p:spPr>
            <a:xfrm>
              <a:off x="0" y="0"/>
              <a:ext cx="609951" cy="196140"/>
            </a:xfrm>
            <a:custGeom>
              <a:rect b="b" l="l" r="r" t="t"/>
              <a:pathLst>
                <a:path extrusionOk="0" h="196140" w="609951">
                  <a:moveTo>
                    <a:pt x="56830" y="0"/>
                  </a:moveTo>
                  <a:lnTo>
                    <a:pt x="553121" y="0"/>
                  </a:lnTo>
                  <a:cubicBezTo>
                    <a:pt x="584507" y="0"/>
                    <a:pt x="609951" y="25444"/>
                    <a:pt x="609951" y="56830"/>
                  </a:cubicBezTo>
                  <a:lnTo>
                    <a:pt x="609951" y="139311"/>
                  </a:lnTo>
                  <a:cubicBezTo>
                    <a:pt x="609951" y="170697"/>
                    <a:pt x="584507" y="196140"/>
                    <a:pt x="553121" y="196140"/>
                  </a:cubicBezTo>
                  <a:lnTo>
                    <a:pt x="56830" y="196140"/>
                  </a:lnTo>
                  <a:cubicBezTo>
                    <a:pt x="25444" y="196140"/>
                    <a:pt x="0" y="170697"/>
                    <a:pt x="0" y="139311"/>
                  </a:cubicBezTo>
                  <a:lnTo>
                    <a:pt x="0" y="56830"/>
                  </a:lnTo>
                  <a:cubicBezTo>
                    <a:pt x="0" y="25444"/>
                    <a:pt x="25444" y="0"/>
                    <a:pt x="5683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42875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4"/>
            <p:cNvSpPr txBox="1"/>
            <p:nvPr/>
          </p:nvSpPr>
          <p:spPr>
            <a:xfrm>
              <a:off x="0" y="-47625"/>
              <a:ext cx="609951" cy="2437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0D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2" name="Google Shape;322;p15"/>
          <p:cNvCxnSpPr/>
          <p:nvPr/>
        </p:nvCxnSpPr>
        <p:spPr>
          <a:xfrm rot="10800000">
            <a:off x="740032" y="430923"/>
            <a:ext cx="0" cy="9425155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15"/>
          <p:cNvSpPr/>
          <p:nvPr/>
        </p:nvSpPr>
        <p:spPr>
          <a:xfrm>
            <a:off x="4828053" y="2724631"/>
            <a:ext cx="8403968" cy="5865409"/>
          </a:xfrm>
          <a:custGeom>
            <a:rect b="b" l="l" r="r" t="t"/>
            <a:pathLst>
              <a:path extrusionOk="0" h="5865409" w="8403968">
                <a:moveTo>
                  <a:pt x="0" y="0"/>
                </a:moveTo>
                <a:lnTo>
                  <a:pt x="8403968" y="0"/>
                </a:lnTo>
                <a:lnTo>
                  <a:pt x="8403968" y="5865409"/>
                </a:lnTo>
                <a:lnTo>
                  <a:pt x="0" y="58654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4" name="Google Shape;324;p15"/>
          <p:cNvSpPr txBox="1"/>
          <p:nvPr/>
        </p:nvSpPr>
        <p:spPr>
          <a:xfrm>
            <a:off x="1028700" y="497590"/>
            <a:ext cx="17259300" cy="1028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 올림픽 상대 연도 기준 GDP 성장률</a:t>
            </a:r>
            <a:endParaRPr/>
          </a:p>
        </p:txBody>
      </p:sp>
      <p:sp>
        <p:nvSpPr>
          <p:cNvPr id="325" name="Google Shape;325;p15"/>
          <p:cNvSpPr txBox="1"/>
          <p:nvPr/>
        </p:nvSpPr>
        <p:spPr>
          <a:xfrm>
            <a:off x="1028700" y="1555074"/>
            <a:ext cx="160026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5775" lvl="1" marL="9715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65A62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데이터 수집 및 전처리 - 하계</a:t>
            </a:r>
            <a:endParaRPr/>
          </a:p>
        </p:txBody>
      </p:sp>
      <p:sp>
        <p:nvSpPr>
          <p:cNvPr id="326" name="Google Shape;326;p15"/>
          <p:cNvSpPr txBox="1"/>
          <p:nvPr/>
        </p:nvSpPr>
        <p:spPr>
          <a:xfrm>
            <a:off x="9658350" y="1600776"/>
            <a:ext cx="1109488" cy="461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Kaggle</a:t>
            </a:r>
            <a:endParaRPr/>
          </a:p>
        </p:txBody>
      </p:sp>
      <p:sp>
        <p:nvSpPr>
          <p:cNvPr id="327" name="Google Shape;327;p15"/>
          <p:cNvSpPr txBox="1"/>
          <p:nvPr/>
        </p:nvSpPr>
        <p:spPr>
          <a:xfrm>
            <a:off x="5685969" y="9049385"/>
            <a:ext cx="6688138" cy="41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미국이 1984년과 1996년으로 나누는 과정</a:t>
            </a:r>
            <a:endParaRPr/>
          </a:p>
        </p:txBody>
      </p:sp>
      <p:grpSp>
        <p:nvGrpSpPr>
          <p:cNvPr id="328" name="Google Shape;328;p15"/>
          <p:cNvGrpSpPr/>
          <p:nvPr/>
        </p:nvGrpSpPr>
        <p:grpSpPr>
          <a:xfrm>
            <a:off x="6113548" y="6292764"/>
            <a:ext cx="3306651" cy="829434"/>
            <a:chOff x="0" y="-47625"/>
            <a:chExt cx="870888" cy="218451"/>
          </a:xfrm>
        </p:grpSpPr>
        <p:sp>
          <p:nvSpPr>
            <p:cNvPr id="329" name="Google Shape;329;p15"/>
            <p:cNvSpPr/>
            <p:nvPr/>
          </p:nvSpPr>
          <p:spPr>
            <a:xfrm>
              <a:off x="0" y="0"/>
              <a:ext cx="870888" cy="170826"/>
            </a:xfrm>
            <a:custGeom>
              <a:rect b="b" l="l" r="r" t="t"/>
              <a:pathLst>
                <a:path extrusionOk="0" h="170826" w="870888">
                  <a:moveTo>
                    <a:pt x="39802" y="0"/>
                  </a:moveTo>
                  <a:lnTo>
                    <a:pt x="831085" y="0"/>
                  </a:lnTo>
                  <a:cubicBezTo>
                    <a:pt x="841641" y="0"/>
                    <a:pt x="851765" y="4193"/>
                    <a:pt x="859230" y="11658"/>
                  </a:cubicBezTo>
                  <a:cubicBezTo>
                    <a:pt x="866694" y="19122"/>
                    <a:pt x="870888" y="29246"/>
                    <a:pt x="870888" y="39802"/>
                  </a:cubicBezTo>
                  <a:lnTo>
                    <a:pt x="870888" y="131024"/>
                  </a:lnTo>
                  <a:cubicBezTo>
                    <a:pt x="870888" y="141580"/>
                    <a:pt x="866694" y="151704"/>
                    <a:pt x="859230" y="159169"/>
                  </a:cubicBezTo>
                  <a:cubicBezTo>
                    <a:pt x="851765" y="166633"/>
                    <a:pt x="841641" y="170826"/>
                    <a:pt x="831085" y="170826"/>
                  </a:cubicBezTo>
                  <a:lnTo>
                    <a:pt x="39802" y="170826"/>
                  </a:lnTo>
                  <a:cubicBezTo>
                    <a:pt x="29246" y="170826"/>
                    <a:pt x="19122" y="166633"/>
                    <a:pt x="11658" y="159169"/>
                  </a:cubicBezTo>
                  <a:cubicBezTo>
                    <a:pt x="4193" y="151704"/>
                    <a:pt x="0" y="141580"/>
                    <a:pt x="0" y="131024"/>
                  </a:cubicBezTo>
                  <a:lnTo>
                    <a:pt x="0" y="39802"/>
                  </a:lnTo>
                  <a:cubicBezTo>
                    <a:pt x="0" y="29246"/>
                    <a:pt x="4193" y="19122"/>
                    <a:pt x="11658" y="11658"/>
                  </a:cubicBezTo>
                  <a:cubicBezTo>
                    <a:pt x="19122" y="4193"/>
                    <a:pt x="29246" y="0"/>
                    <a:pt x="3980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42875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5"/>
            <p:cNvSpPr txBox="1"/>
            <p:nvPr/>
          </p:nvSpPr>
          <p:spPr>
            <a:xfrm>
              <a:off x="0" y="-47625"/>
              <a:ext cx="870888" cy="218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1" name="Google Shape;331;p15"/>
          <p:cNvGrpSpPr/>
          <p:nvPr/>
        </p:nvGrpSpPr>
        <p:grpSpPr>
          <a:xfrm>
            <a:off x="5663228" y="7922295"/>
            <a:ext cx="3756972" cy="854451"/>
            <a:chOff x="0" y="-47625"/>
            <a:chExt cx="989490" cy="225041"/>
          </a:xfrm>
        </p:grpSpPr>
        <p:sp>
          <p:nvSpPr>
            <p:cNvPr id="332" name="Google Shape;332;p15"/>
            <p:cNvSpPr/>
            <p:nvPr/>
          </p:nvSpPr>
          <p:spPr>
            <a:xfrm>
              <a:off x="0" y="0"/>
              <a:ext cx="989490" cy="177416"/>
            </a:xfrm>
            <a:custGeom>
              <a:rect b="b" l="l" r="r" t="t"/>
              <a:pathLst>
                <a:path extrusionOk="0" h="177416" w="989490">
                  <a:moveTo>
                    <a:pt x="35032" y="0"/>
                  </a:moveTo>
                  <a:lnTo>
                    <a:pt x="954459" y="0"/>
                  </a:lnTo>
                  <a:cubicBezTo>
                    <a:pt x="973806" y="0"/>
                    <a:pt x="989490" y="15684"/>
                    <a:pt x="989490" y="35032"/>
                  </a:cubicBezTo>
                  <a:lnTo>
                    <a:pt x="989490" y="142384"/>
                  </a:lnTo>
                  <a:cubicBezTo>
                    <a:pt x="989490" y="161731"/>
                    <a:pt x="973806" y="177416"/>
                    <a:pt x="954459" y="177416"/>
                  </a:cubicBezTo>
                  <a:lnTo>
                    <a:pt x="35032" y="177416"/>
                  </a:lnTo>
                  <a:cubicBezTo>
                    <a:pt x="15684" y="177416"/>
                    <a:pt x="0" y="161731"/>
                    <a:pt x="0" y="142384"/>
                  </a:cubicBezTo>
                  <a:lnTo>
                    <a:pt x="0" y="35032"/>
                  </a:lnTo>
                  <a:cubicBezTo>
                    <a:pt x="0" y="15684"/>
                    <a:pt x="15684" y="0"/>
                    <a:pt x="3503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42875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5"/>
            <p:cNvSpPr txBox="1"/>
            <p:nvPr/>
          </p:nvSpPr>
          <p:spPr>
            <a:xfrm>
              <a:off x="0" y="-47625"/>
              <a:ext cx="989490" cy="2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0D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8" name="Google Shape;338;p16"/>
          <p:cNvCxnSpPr/>
          <p:nvPr/>
        </p:nvCxnSpPr>
        <p:spPr>
          <a:xfrm rot="10800000">
            <a:off x="740032" y="430923"/>
            <a:ext cx="0" cy="9425155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16"/>
          <p:cNvSpPr/>
          <p:nvPr/>
        </p:nvSpPr>
        <p:spPr>
          <a:xfrm>
            <a:off x="3366706" y="3980371"/>
            <a:ext cx="11326663" cy="5875706"/>
          </a:xfrm>
          <a:custGeom>
            <a:rect b="b" l="l" r="r" t="t"/>
            <a:pathLst>
              <a:path extrusionOk="0" h="5875706" w="11326663">
                <a:moveTo>
                  <a:pt x="0" y="0"/>
                </a:moveTo>
                <a:lnTo>
                  <a:pt x="11326663" y="0"/>
                </a:lnTo>
                <a:lnTo>
                  <a:pt x="11326663" y="5875706"/>
                </a:lnTo>
                <a:lnTo>
                  <a:pt x="0" y="58757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0" name="Google Shape;340;p16"/>
          <p:cNvSpPr txBox="1"/>
          <p:nvPr/>
        </p:nvSpPr>
        <p:spPr>
          <a:xfrm>
            <a:off x="1028700" y="497590"/>
            <a:ext cx="17259300" cy="1028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 올림픽 상대 연도 기준 GDP 성장률</a:t>
            </a:r>
            <a:endParaRPr/>
          </a:p>
        </p:txBody>
      </p:sp>
      <p:sp>
        <p:nvSpPr>
          <p:cNvPr id="341" name="Google Shape;341;p16"/>
          <p:cNvSpPr txBox="1"/>
          <p:nvPr/>
        </p:nvSpPr>
        <p:spPr>
          <a:xfrm>
            <a:off x="1028700" y="1555074"/>
            <a:ext cx="160026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5775" lvl="1" marL="9715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65A62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데이터 수집 및 전처리 - 하계</a:t>
            </a:r>
            <a:endParaRPr/>
          </a:p>
        </p:txBody>
      </p:sp>
      <p:sp>
        <p:nvSpPr>
          <p:cNvPr id="342" name="Google Shape;342;p16"/>
          <p:cNvSpPr txBox="1"/>
          <p:nvPr/>
        </p:nvSpPr>
        <p:spPr>
          <a:xfrm>
            <a:off x="9658350" y="1600776"/>
            <a:ext cx="1109488" cy="461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Kaggle</a:t>
            </a:r>
            <a:endParaRPr/>
          </a:p>
        </p:txBody>
      </p:sp>
      <p:sp>
        <p:nvSpPr>
          <p:cNvPr id="343" name="Google Shape;343;p16"/>
          <p:cNvSpPr txBox="1"/>
          <p:nvPr/>
        </p:nvSpPr>
        <p:spPr>
          <a:xfrm>
            <a:off x="1028700" y="2669096"/>
            <a:ext cx="16230600" cy="1177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올림픽 개최국·개최연도를 기준으로, GDP 데이터의 국가명을 매칭하여 개최 전·후 ±5년의 GDP 시계열 데이터를 추출</a:t>
            </a:r>
            <a:endParaRPr/>
          </a:p>
        </p:txBody>
      </p:sp>
      <p:grpSp>
        <p:nvGrpSpPr>
          <p:cNvPr id="344" name="Google Shape;344;p16"/>
          <p:cNvGrpSpPr/>
          <p:nvPr/>
        </p:nvGrpSpPr>
        <p:grpSpPr>
          <a:xfrm>
            <a:off x="8314130" y="3799545"/>
            <a:ext cx="2069019" cy="6056532"/>
            <a:chOff x="0" y="-47625"/>
            <a:chExt cx="544927" cy="1595136"/>
          </a:xfrm>
        </p:grpSpPr>
        <p:sp>
          <p:nvSpPr>
            <p:cNvPr id="345" name="Google Shape;345;p16"/>
            <p:cNvSpPr/>
            <p:nvPr/>
          </p:nvSpPr>
          <p:spPr>
            <a:xfrm>
              <a:off x="0" y="0"/>
              <a:ext cx="544927" cy="1547511"/>
            </a:xfrm>
            <a:custGeom>
              <a:rect b="b" l="l" r="r" t="t"/>
              <a:pathLst>
                <a:path extrusionOk="0" h="1547511" w="544927">
                  <a:moveTo>
                    <a:pt x="63611" y="0"/>
                  </a:moveTo>
                  <a:lnTo>
                    <a:pt x="481316" y="0"/>
                  </a:lnTo>
                  <a:cubicBezTo>
                    <a:pt x="516447" y="0"/>
                    <a:pt x="544927" y="28480"/>
                    <a:pt x="544927" y="63611"/>
                  </a:cubicBezTo>
                  <a:lnTo>
                    <a:pt x="544927" y="1483900"/>
                  </a:lnTo>
                  <a:cubicBezTo>
                    <a:pt x="544927" y="1519031"/>
                    <a:pt x="516447" y="1547511"/>
                    <a:pt x="481316" y="1547511"/>
                  </a:cubicBezTo>
                  <a:lnTo>
                    <a:pt x="63611" y="1547511"/>
                  </a:lnTo>
                  <a:cubicBezTo>
                    <a:pt x="46740" y="1547511"/>
                    <a:pt x="30561" y="1540809"/>
                    <a:pt x="18631" y="1528880"/>
                  </a:cubicBezTo>
                  <a:cubicBezTo>
                    <a:pt x="6702" y="1516950"/>
                    <a:pt x="0" y="1500771"/>
                    <a:pt x="0" y="1483900"/>
                  </a:cubicBezTo>
                  <a:lnTo>
                    <a:pt x="0" y="63611"/>
                  </a:lnTo>
                  <a:cubicBezTo>
                    <a:pt x="0" y="28480"/>
                    <a:pt x="28480" y="0"/>
                    <a:pt x="636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42875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6"/>
            <p:cNvSpPr txBox="1"/>
            <p:nvPr/>
          </p:nvSpPr>
          <p:spPr>
            <a:xfrm>
              <a:off x="0" y="-47625"/>
              <a:ext cx="544927" cy="15951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7" name="Google Shape;347;p16"/>
          <p:cNvGrpSpPr/>
          <p:nvPr/>
        </p:nvGrpSpPr>
        <p:grpSpPr>
          <a:xfrm>
            <a:off x="12023922" y="3799545"/>
            <a:ext cx="2669446" cy="6056532"/>
            <a:chOff x="0" y="-47625"/>
            <a:chExt cx="703064" cy="1595136"/>
          </a:xfrm>
        </p:grpSpPr>
        <p:sp>
          <p:nvSpPr>
            <p:cNvPr id="348" name="Google Shape;348;p16"/>
            <p:cNvSpPr/>
            <p:nvPr/>
          </p:nvSpPr>
          <p:spPr>
            <a:xfrm>
              <a:off x="0" y="0"/>
              <a:ext cx="703064" cy="1547511"/>
            </a:xfrm>
            <a:custGeom>
              <a:rect b="b" l="l" r="r" t="t"/>
              <a:pathLst>
                <a:path extrusionOk="0" h="1547511" w="703064">
                  <a:moveTo>
                    <a:pt x="49303" y="0"/>
                  </a:moveTo>
                  <a:lnTo>
                    <a:pt x="653761" y="0"/>
                  </a:lnTo>
                  <a:cubicBezTo>
                    <a:pt x="666837" y="0"/>
                    <a:pt x="679377" y="5194"/>
                    <a:pt x="688623" y="14441"/>
                  </a:cubicBezTo>
                  <a:cubicBezTo>
                    <a:pt x="697870" y="23687"/>
                    <a:pt x="703064" y="36227"/>
                    <a:pt x="703064" y="49303"/>
                  </a:cubicBezTo>
                  <a:lnTo>
                    <a:pt x="703064" y="1498208"/>
                  </a:lnTo>
                  <a:cubicBezTo>
                    <a:pt x="703064" y="1525437"/>
                    <a:pt x="680990" y="1547511"/>
                    <a:pt x="653761" y="1547511"/>
                  </a:cubicBezTo>
                  <a:lnTo>
                    <a:pt x="49303" y="1547511"/>
                  </a:lnTo>
                  <a:cubicBezTo>
                    <a:pt x="22074" y="1547511"/>
                    <a:pt x="0" y="1525437"/>
                    <a:pt x="0" y="1498208"/>
                  </a:cubicBezTo>
                  <a:lnTo>
                    <a:pt x="0" y="49303"/>
                  </a:lnTo>
                  <a:cubicBezTo>
                    <a:pt x="0" y="22074"/>
                    <a:pt x="22074" y="0"/>
                    <a:pt x="493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42875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6"/>
            <p:cNvSpPr txBox="1"/>
            <p:nvPr/>
          </p:nvSpPr>
          <p:spPr>
            <a:xfrm>
              <a:off x="0" y="-47625"/>
              <a:ext cx="703064" cy="15951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0DF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4" name="Google Shape;354;p17"/>
          <p:cNvCxnSpPr/>
          <p:nvPr/>
        </p:nvCxnSpPr>
        <p:spPr>
          <a:xfrm rot="10800000">
            <a:off x="740032" y="430923"/>
            <a:ext cx="0" cy="9425155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" name="Google Shape;355;p17"/>
          <p:cNvSpPr/>
          <p:nvPr/>
        </p:nvSpPr>
        <p:spPr>
          <a:xfrm>
            <a:off x="4613049" y="5331495"/>
            <a:ext cx="9061902" cy="3032814"/>
          </a:xfrm>
          <a:custGeom>
            <a:rect b="b" l="l" r="r" t="t"/>
            <a:pathLst>
              <a:path extrusionOk="0" h="3032814" w="9061902">
                <a:moveTo>
                  <a:pt x="0" y="0"/>
                </a:moveTo>
                <a:lnTo>
                  <a:pt x="9061902" y="0"/>
                </a:lnTo>
                <a:lnTo>
                  <a:pt x="9061902" y="3032814"/>
                </a:lnTo>
                <a:lnTo>
                  <a:pt x="0" y="30328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6" name="Google Shape;356;p17"/>
          <p:cNvSpPr txBox="1"/>
          <p:nvPr/>
        </p:nvSpPr>
        <p:spPr>
          <a:xfrm>
            <a:off x="1028700" y="497590"/>
            <a:ext cx="17259300" cy="1028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 올림픽 상대 연도 기준 GDP 성장률</a:t>
            </a:r>
            <a:endParaRPr/>
          </a:p>
        </p:txBody>
      </p:sp>
      <p:sp>
        <p:nvSpPr>
          <p:cNvPr id="357" name="Google Shape;357;p17"/>
          <p:cNvSpPr txBox="1"/>
          <p:nvPr/>
        </p:nvSpPr>
        <p:spPr>
          <a:xfrm>
            <a:off x="1028700" y="1555074"/>
            <a:ext cx="160026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5775" lvl="1" marL="9715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65A62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데이터 수집 및 전처리 - 하계</a:t>
            </a:r>
            <a:endParaRPr/>
          </a:p>
        </p:txBody>
      </p:sp>
      <p:sp>
        <p:nvSpPr>
          <p:cNvPr id="358" name="Google Shape;358;p17"/>
          <p:cNvSpPr txBox="1"/>
          <p:nvPr/>
        </p:nvSpPr>
        <p:spPr>
          <a:xfrm>
            <a:off x="9658350" y="1600776"/>
            <a:ext cx="1109488" cy="461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Kaggle</a:t>
            </a:r>
            <a:endParaRPr/>
          </a:p>
        </p:txBody>
      </p:sp>
      <p:sp>
        <p:nvSpPr>
          <p:cNvPr id="359" name="Google Shape;359;p17"/>
          <p:cNvSpPr txBox="1"/>
          <p:nvPr/>
        </p:nvSpPr>
        <p:spPr>
          <a:xfrm>
            <a:off x="1028700" y="2985125"/>
            <a:ext cx="16230600" cy="1177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동일 국가의 복수 개최 사례(예: 미국 1984·1996)는 </a:t>
            </a:r>
            <a:endParaRPr/>
          </a:p>
          <a:p>
            <a:pPr indent="0" lvl="0" marL="0" marR="0" rtl="0" algn="ctr">
              <a:lnSpc>
                <a:spcPct val="115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국가명+개최연도를 하나의 ‘Host Event’로 정의하여 독립적으로 분석.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0DF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4" name="Google Shape;364;p18"/>
          <p:cNvCxnSpPr/>
          <p:nvPr/>
        </p:nvCxnSpPr>
        <p:spPr>
          <a:xfrm rot="10800000">
            <a:off x="740032" y="430923"/>
            <a:ext cx="0" cy="9425155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5" name="Google Shape;365;p18"/>
          <p:cNvSpPr/>
          <p:nvPr/>
        </p:nvSpPr>
        <p:spPr>
          <a:xfrm>
            <a:off x="3379408" y="2684469"/>
            <a:ext cx="11301259" cy="1765822"/>
          </a:xfrm>
          <a:custGeom>
            <a:rect b="b" l="l" r="r" t="t"/>
            <a:pathLst>
              <a:path extrusionOk="0" h="1765822" w="11301259">
                <a:moveTo>
                  <a:pt x="0" y="0"/>
                </a:moveTo>
                <a:lnTo>
                  <a:pt x="11301259" y="0"/>
                </a:lnTo>
                <a:lnTo>
                  <a:pt x="11301259" y="1765821"/>
                </a:lnTo>
                <a:lnTo>
                  <a:pt x="0" y="17658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6" name="Google Shape;366;p18"/>
          <p:cNvSpPr/>
          <p:nvPr/>
        </p:nvSpPr>
        <p:spPr>
          <a:xfrm>
            <a:off x="6814395" y="4450290"/>
            <a:ext cx="4431284" cy="1547914"/>
          </a:xfrm>
          <a:custGeom>
            <a:rect b="b" l="l" r="r" t="t"/>
            <a:pathLst>
              <a:path extrusionOk="0" h="1547914" w="4431284">
                <a:moveTo>
                  <a:pt x="0" y="0"/>
                </a:moveTo>
                <a:lnTo>
                  <a:pt x="4431284" y="0"/>
                </a:lnTo>
                <a:lnTo>
                  <a:pt x="4431284" y="1547915"/>
                </a:lnTo>
                <a:lnTo>
                  <a:pt x="0" y="15479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7" name="Google Shape;367;p18"/>
          <p:cNvGrpSpPr/>
          <p:nvPr/>
        </p:nvGrpSpPr>
        <p:grpSpPr>
          <a:xfrm>
            <a:off x="4044106" y="6932902"/>
            <a:ext cx="3686527" cy="1780830"/>
            <a:chOff x="0" y="-114300"/>
            <a:chExt cx="970937" cy="469025"/>
          </a:xfrm>
        </p:grpSpPr>
        <p:sp>
          <p:nvSpPr>
            <p:cNvPr id="368" name="Google Shape;368;p18"/>
            <p:cNvSpPr/>
            <p:nvPr/>
          </p:nvSpPr>
          <p:spPr>
            <a:xfrm>
              <a:off x="0" y="0"/>
              <a:ext cx="970937" cy="354725"/>
            </a:xfrm>
            <a:custGeom>
              <a:rect b="b" l="l" r="r" t="t"/>
              <a:pathLst>
                <a:path extrusionOk="0" h="354725" w="970937">
                  <a:moveTo>
                    <a:pt x="0" y="0"/>
                  </a:moveTo>
                  <a:lnTo>
                    <a:pt x="970937" y="0"/>
                  </a:lnTo>
                  <a:lnTo>
                    <a:pt x="970937" y="354725"/>
                  </a:lnTo>
                  <a:lnTo>
                    <a:pt x="0" y="354725"/>
                  </a:lnTo>
                  <a:close/>
                </a:path>
              </a:pathLst>
            </a:custGeom>
            <a:solidFill>
              <a:srgbClr val="D4B998"/>
            </a:solidFill>
            <a:ln>
              <a:noFill/>
            </a:ln>
          </p:spPr>
        </p:sp>
        <p:sp>
          <p:nvSpPr>
            <p:cNvPr id="369" name="Google Shape;369;p18"/>
            <p:cNvSpPr txBox="1"/>
            <p:nvPr/>
          </p:nvSpPr>
          <p:spPr>
            <a:xfrm>
              <a:off x="0" y="-114300"/>
              <a:ext cx="970937" cy="469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개최 연도 GDP 추출</a:t>
              </a:r>
              <a:endParaRPr/>
            </a:p>
          </p:txBody>
        </p:sp>
      </p:grpSp>
      <p:sp>
        <p:nvSpPr>
          <p:cNvPr id="370" name="Google Shape;370;p18"/>
          <p:cNvSpPr txBox="1"/>
          <p:nvPr/>
        </p:nvSpPr>
        <p:spPr>
          <a:xfrm>
            <a:off x="1028700" y="497590"/>
            <a:ext cx="17259300" cy="1028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 올림픽 상대 연도 기준 GDP 성장률</a:t>
            </a:r>
            <a:endParaRPr/>
          </a:p>
        </p:txBody>
      </p:sp>
      <p:sp>
        <p:nvSpPr>
          <p:cNvPr id="371" name="Google Shape;371;p18"/>
          <p:cNvSpPr txBox="1"/>
          <p:nvPr/>
        </p:nvSpPr>
        <p:spPr>
          <a:xfrm>
            <a:off x="1028700" y="1555074"/>
            <a:ext cx="160026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5775" lvl="1" marL="9715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65A62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데이터 수집 및 전처리 - 하계</a:t>
            </a:r>
            <a:endParaRPr/>
          </a:p>
        </p:txBody>
      </p:sp>
      <p:sp>
        <p:nvSpPr>
          <p:cNvPr id="372" name="Google Shape;372;p18"/>
          <p:cNvSpPr txBox="1"/>
          <p:nvPr/>
        </p:nvSpPr>
        <p:spPr>
          <a:xfrm>
            <a:off x="9658350" y="1600776"/>
            <a:ext cx="1109488" cy="461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Kaggle</a:t>
            </a:r>
            <a:endParaRPr/>
          </a:p>
        </p:txBody>
      </p:sp>
      <p:grpSp>
        <p:nvGrpSpPr>
          <p:cNvPr id="373" name="Google Shape;373;p18"/>
          <p:cNvGrpSpPr/>
          <p:nvPr/>
        </p:nvGrpSpPr>
        <p:grpSpPr>
          <a:xfrm>
            <a:off x="9658350" y="6232197"/>
            <a:ext cx="6491466" cy="2984728"/>
            <a:chOff x="0" y="-114300"/>
            <a:chExt cx="1709686" cy="786101"/>
          </a:xfrm>
        </p:grpSpPr>
        <p:sp>
          <p:nvSpPr>
            <p:cNvPr id="374" name="Google Shape;374;p18"/>
            <p:cNvSpPr/>
            <p:nvPr/>
          </p:nvSpPr>
          <p:spPr>
            <a:xfrm>
              <a:off x="0" y="0"/>
              <a:ext cx="1709686" cy="671801"/>
            </a:xfrm>
            <a:custGeom>
              <a:rect b="b" l="l" r="r" t="t"/>
              <a:pathLst>
                <a:path extrusionOk="0" h="671801" w="1709686">
                  <a:moveTo>
                    <a:pt x="0" y="0"/>
                  </a:moveTo>
                  <a:lnTo>
                    <a:pt x="1709686" y="0"/>
                  </a:lnTo>
                  <a:lnTo>
                    <a:pt x="1709686" y="671801"/>
                  </a:lnTo>
                  <a:lnTo>
                    <a:pt x="0" y="671801"/>
                  </a:lnTo>
                  <a:close/>
                </a:path>
              </a:pathLst>
            </a:custGeom>
            <a:solidFill>
              <a:srgbClr val="D4B998"/>
            </a:solidFill>
            <a:ln>
              <a:noFill/>
            </a:ln>
          </p:spPr>
        </p:sp>
        <p:sp>
          <p:nvSpPr>
            <p:cNvPr id="375" name="Google Shape;375;p18"/>
            <p:cNvSpPr txBox="1"/>
            <p:nvPr/>
          </p:nvSpPr>
          <p:spPr>
            <a:xfrm>
              <a:off x="0" y="-114300"/>
              <a:ext cx="1709685" cy="7861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EX) GDP(H) = 1조</a:t>
              </a:r>
              <a:endParaRPr/>
            </a:p>
            <a:p>
              <a:pPr indent="0" lvl="0" marL="0" marR="0" rtl="0" algn="ctr">
                <a:lnSpc>
                  <a:spcPct val="15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GDP(3) = 1.25조</a:t>
              </a:r>
              <a:endParaRPr/>
            </a:p>
            <a:p>
              <a:pPr indent="0" lvl="0" marL="0" marR="0" rtl="0" algn="ctr">
                <a:lnSpc>
                  <a:spcPct val="15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(1.25/1 -1) * 100 = 25% 증가</a:t>
              </a:r>
              <a:endParaRPr/>
            </a:p>
            <a:p>
              <a:pPr indent="0" lvl="0" marL="0" marR="0" rtl="0" algn="ctr">
                <a:lnSpc>
                  <a:spcPct val="15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6" name="Google Shape;376;p18"/>
          <p:cNvGrpSpPr/>
          <p:nvPr/>
        </p:nvGrpSpPr>
        <p:grpSpPr>
          <a:xfrm>
            <a:off x="8244983" y="7492044"/>
            <a:ext cx="899017" cy="899017"/>
            <a:chOff x="0" y="0"/>
            <a:chExt cx="812800" cy="812800"/>
          </a:xfrm>
        </p:grpSpPr>
        <p:sp>
          <p:nvSpPr>
            <p:cNvPr id="377" name="Google Shape;377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378" name="Google Shape;378;p18"/>
            <p:cNvSpPr txBox="1"/>
            <p:nvPr/>
          </p:nvSpPr>
          <p:spPr>
            <a:xfrm>
              <a:off x="0" y="136525"/>
              <a:ext cx="711200" cy="473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0D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3" name="Google Shape;383;p19"/>
          <p:cNvCxnSpPr/>
          <p:nvPr/>
        </p:nvCxnSpPr>
        <p:spPr>
          <a:xfrm rot="10800000">
            <a:off x="740032" y="430923"/>
            <a:ext cx="0" cy="9425155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4" name="Google Shape;384;p19"/>
          <p:cNvSpPr/>
          <p:nvPr/>
        </p:nvSpPr>
        <p:spPr>
          <a:xfrm>
            <a:off x="3379408" y="2684469"/>
            <a:ext cx="11301259" cy="1765822"/>
          </a:xfrm>
          <a:custGeom>
            <a:rect b="b" l="l" r="r" t="t"/>
            <a:pathLst>
              <a:path extrusionOk="0" h="1765822" w="11301259">
                <a:moveTo>
                  <a:pt x="0" y="0"/>
                </a:moveTo>
                <a:lnTo>
                  <a:pt x="11301259" y="0"/>
                </a:lnTo>
                <a:lnTo>
                  <a:pt x="11301259" y="1765821"/>
                </a:lnTo>
                <a:lnTo>
                  <a:pt x="0" y="17658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5" name="Google Shape;385;p19"/>
          <p:cNvSpPr/>
          <p:nvPr/>
        </p:nvSpPr>
        <p:spPr>
          <a:xfrm>
            <a:off x="6814395" y="4450290"/>
            <a:ext cx="4431284" cy="1547914"/>
          </a:xfrm>
          <a:custGeom>
            <a:rect b="b" l="l" r="r" t="t"/>
            <a:pathLst>
              <a:path extrusionOk="0" h="1547914" w="4431284">
                <a:moveTo>
                  <a:pt x="0" y="0"/>
                </a:moveTo>
                <a:lnTo>
                  <a:pt x="4431284" y="0"/>
                </a:lnTo>
                <a:lnTo>
                  <a:pt x="4431284" y="1547915"/>
                </a:lnTo>
                <a:lnTo>
                  <a:pt x="0" y="15479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6" name="Google Shape;386;p19"/>
          <p:cNvGrpSpPr/>
          <p:nvPr/>
        </p:nvGrpSpPr>
        <p:grpSpPr>
          <a:xfrm>
            <a:off x="1261526" y="6951865"/>
            <a:ext cx="5989009" cy="1780830"/>
            <a:chOff x="0" y="-114300"/>
            <a:chExt cx="1577352" cy="469025"/>
          </a:xfrm>
        </p:grpSpPr>
        <p:sp>
          <p:nvSpPr>
            <p:cNvPr id="387" name="Google Shape;387;p19"/>
            <p:cNvSpPr/>
            <p:nvPr/>
          </p:nvSpPr>
          <p:spPr>
            <a:xfrm>
              <a:off x="0" y="0"/>
              <a:ext cx="1577352" cy="354725"/>
            </a:xfrm>
            <a:custGeom>
              <a:rect b="b" l="l" r="r" t="t"/>
              <a:pathLst>
                <a:path extrusionOk="0" h="354725" w="1577352">
                  <a:moveTo>
                    <a:pt x="0" y="0"/>
                  </a:moveTo>
                  <a:lnTo>
                    <a:pt x="1577352" y="0"/>
                  </a:lnTo>
                  <a:lnTo>
                    <a:pt x="1577352" y="354725"/>
                  </a:lnTo>
                  <a:lnTo>
                    <a:pt x="0" y="354725"/>
                  </a:lnTo>
                  <a:close/>
                </a:path>
              </a:pathLst>
            </a:custGeom>
            <a:solidFill>
              <a:srgbClr val="D4B998"/>
            </a:solidFill>
            <a:ln>
              <a:noFill/>
            </a:ln>
          </p:spPr>
        </p:sp>
        <p:sp>
          <p:nvSpPr>
            <p:cNvPr id="388" name="Google Shape;388;p19"/>
            <p:cNvSpPr txBox="1"/>
            <p:nvPr/>
          </p:nvSpPr>
          <p:spPr>
            <a:xfrm>
              <a:off x="0" y="-114300"/>
              <a:ext cx="1577352" cy="469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각 연도의 GDP가 얼마나 누적적으로 변화했는지(%)를 계산</a:t>
              </a:r>
              <a:endParaRPr/>
            </a:p>
          </p:txBody>
        </p:sp>
      </p:grpSp>
      <p:sp>
        <p:nvSpPr>
          <p:cNvPr id="389" name="Google Shape;389;p19"/>
          <p:cNvSpPr txBox="1"/>
          <p:nvPr/>
        </p:nvSpPr>
        <p:spPr>
          <a:xfrm>
            <a:off x="1028700" y="497590"/>
            <a:ext cx="17259300" cy="1028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 올림픽 상대 연도 기준 GDP 성장률</a:t>
            </a:r>
            <a:endParaRPr/>
          </a:p>
        </p:txBody>
      </p:sp>
      <p:sp>
        <p:nvSpPr>
          <p:cNvPr id="390" name="Google Shape;390;p19"/>
          <p:cNvSpPr txBox="1"/>
          <p:nvPr/>
        </p:nvSpPr>
        <p:spPr>
          <a:xfrm>
            <a:off x="1028700" y="1555074"/>
            <a:ext cx="160026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5775" lvl="1" marL="9715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65A62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데이터 수집 및 전처리 - 하계</a:t>
            </a:r>
            <a:endParaRPr/>
          </a:p>
        </p:txBody>
      </p:sp>
      <p:sp>
        <p:nvSpPr>
          <p:cNvPr id="391" name="Google Shape;391;p19"/>
          <p:cNvSpPr txBox="1"/>
          <p:nvPr/>
        </p:nvSpPr>
        <p:spPr>
          <a:xfrm>
            <a:off x="9658350" y="1600776"/>
            <a:ext cx="1109488" cy="461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Kaggle</a:t>
            </a:r>
            <a:endParaRPr/>
          </a:p>
        </p:txBody>
      </p:sp>
      <p:grpSp>
        <p:nvGrpSpPr>
          <p:cNvPr id="392" name="Google Shape;392;p19"/>
          <p:cNvGrpSpPr/>
          <p:nvPr/>
        </p:nvGrpSpPr>
        <p:grpSpPr>
          <a:xfrm>
            <a:off x="9178252" y="6951865"/>
            <a:ext cx="7600950" cy="1780830"/>
            <a:chOff x="0" y="-114300"/>
            <a:chExt cx="2001896" cy="469025"/>
          </a:xfrm>
        </p:grpSpPr>
        <p:sp>
          <p:nvSpPr>
            <p:cNvPr id="393" name="Google Shape;393;p19"/>
            <p:cNvSpPr/>
            <p:nvPr/>
          </p:nvSpPr>
          <p:spPr>
            <a:xfrm>
              <a:off x="0" y="0"/>
              <a:ext cx="2001896" cy="354725"/>
            </a:xfrm>
            <a:custGeom>
              <a:rect b="b" l="l" r="r" t="t"/>
              <a:pathLst>
                <a:path extrusionOk="0" h="354725" w="2001896">
                  <a:moveTo>
                    <a:pt x="0" y="0"/>
                  </a:moveTo>
                  <a:lnTo>
                    <a:pt x="2001896" y="0"/>
                  </a:lnTo>
                  <a:lnTo>
                    <a:pt x="2001896" y="354725"/>
                  </a:lnTo>
                  <a:lnTo>
                    <a:pt x="0" y="354725"/>
                  </a:lnTo>
                  <a:close/>
                </a:path>
              </a:pathLst>
            </a:custGeom>
            <a:solidFill>
              <a:srgbClr val="D4B998"/>
            </a:solidFill>
            <a:ln>
              <a:noFill/>
            </a:ln>
          </p:spPr>
        </p:sp>
        <p:sp>
          <p:nvSpPr>
            <p:cNvPr id="394" name="Google Shape;394;p19"/>
            <p:cNvSpPr txBox="1"/>
            <p:nvPr/>
          </p:nvSpPr>
          <p:spPr>
            <a:xfrm>
              <a:off x="0" y="-114300"/>
              <a:ext cx="2001896" cy="469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개최연도 전·후 5년(±5년) 구간의 데이터만 선별</a:t>
              </a:r>
              <a:endParaRPr/>
            </a:p>
          </p:txBody>
        </p:sp>
      </p:grpSp>
      <p:grpSp>
        <p:nvGrpSpPr>
          <p:cNvPr id="395" name="Google Shape;395;p19"/>
          <p:cNvGrpSpPr/>
          <p:nvPr/>
        </p:nvGrpSpPr>
        <p:grpSpPr>
          <a:xfrm>
            <a:off x="7764885" y="7609763"/>
            <a:ext cx="899017" cy="899017"/>
            <a:chOff x="0" y="0"/>
            <a:chExt cx="812800" cy="812800"/>
          </a:xfrm>
        </p:grpSpPr>
        <p:sp>
          <p:nvSpPr>
            <p:cNvPr id="396" name="Google Shape;396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397" name="Google Shape;397;p19"/>
            <p:cNvSpPr txBox="1"/>
            <p:nvPr/>
          </p:nvSpPr>
          <p:spPr>
            <a:xfrm>
              <a:off x="0" y="136525"/>
              <a:ext cx="711200" cy="473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0DF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2" name="Google Shape;402;p20"/>
          <p:cNvCxnSpPr/>
          <p:nvPr/>
        </p:nvCxnSpPr>
        <p:spPr>
          <a:xfrm rot="10800000">
            <a:off x="740032" y="430923"/>
            <a:ext cx="0" cy="9425155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3" name="Google Shape;403;p20"/>
          <p:cNvSpPr/>
          <p:nvPr/>
        </p:nvSpPr>
        <p:spPr>
          <a:xfrm>
            <a:off x="3379408" y="2684469"/>
            <a:ext cx="11301259" cy="1765822"/>
          </a:xfrm>
          <a:custGeom>
            <a:rect b="b" l="l" r="r" t="t"/>
            <a:pathLst>
              <a:path extrusionOk="0" h="1765822" w="11301259">
                <a:moveTo>
                  <a:pt x="0" y="0"/>
                </a:moveTo>
                <a:lnTo>
                  <a:pt x="11301259" y="0"/>
                </a:lnTo>
                <a:lnTo>
                  <a:pt x="11301259" y="1765821"/>
                </a:lnTo>
                <a:lnTo>
                  <a:pt x="0" y="17658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4" name="Google Shape;404;p20"/>
          <p:cNvSpPr/>
          <p:nvPr/>
        </p:nvSpPr>
        <p:spPr>
          <a:xfrm>
            <a:off x="6814395" y="4450290"/>
            <a:ext cx="4431284" cy="1547914"/>
          </a:xfrm>
          <a:custGeom>
            <a:rect b="b" l="l" r="r" t="t"/>
            <a:pathLst>
              <a:path extrusionOk="0" h="1547914" w="4431284">
                <a:moveTo>
                  <a:pt x="0" y="0"/>
                </a:moveTo>
                <a:lnTo>
                  <a:pt x="4431284" y="0"/>
                </a:lnTo>
                <a:lnTo>
                  <a:pt x="4431284" y="1547915"/>
                </a:lnTo>
                <a:lnTo>
                  <a:pt x="0" y="15479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05" name="Google Shape;405;p20"/>
          <p:cNvGrpSpPr/>
          <p:nvPr/>
        </p:nvGrpSpPr>
        <p:grpSpPr>
          <a:xfrm>
            <a:off x="1261526" y="6951865"/>
            <a:ext cx="5989009" cy="1780830"/>
            <a:chOff x="0" y="-114300"/>
            <a:chExt cx="1577352" cy="469025"/>
          </a:xfrm>
        </p:grpSpPr>
        <p:sp>
          <p:nvSpPr>
            <p:cNvPr id="406" name="Google Shape;406;p20"/>
            <p:cNvSpPr/>
            <p:nvPr/>
          </p:nvSpPr>
          <p:spPr>
            <a:xfrm>
              <a:off x="0" y="0"/>
              <a:ext cx="1577352" cy="354725"/>
            </a:xfrm>
            <a:custGeom>
              <a:rect b="b" l="l" r="r" t="t"/>
              <a:pathLst>
                <a:path extrusionOk="0" h="354725" w="1577352">
                  <a:moveTo>
                    <a:pt x="0" y="0"/>
                  </a:moveTo>
                  <a:lnTo>
                    <a:pt x="1577352" y="0"/>
                  </a:lnTo>
                  <a:lnTo>
                    <a:pt x="1577352" y="354725"/>
                  </a:lnTo>
                  <a:lnTo>
                    <a:pt x="0" y="354725"/>
                  </a:lnTo>
                  <a:close/>
                </a:path>
              </a:pathLst>
            </a:custGeom>
            <a:solidFill>
              <a:srgbClr val="D4B998"/>
            </a:solidFill>
            <a:ln>
              <a:noFill/>
            </a:ln>
          </p:spPr>
        </p:sp>
        <p:sp>
          <p:nvSpPr>
            <p:cNvPr id="407" name="Google Shape;407;p20"/>
            <p:cNvSpPr txBox="1"/>
            <p:nvPr/>
          </p:nvSpPr>
          <p:spPr>
            <a:xfrm>
              <a:off x="0" y="-114300"/>
              <a:ext cx="1577352" cy="469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피벗 테이블로 누적 GDP 성장률을 표 형태로 재구성</a:t>
              </a:r>
              <a:endParaRPr/>
            </a:p>
          </p:txBody>
        </p:sp>
      </p:grpSp>
      <p:sp>
        <p:nvSpPr>
          <p:cNvPr id="408" name="Google Shape;408;p20"/>
          <p:cNvSpPr txBox="1"/>
          <p:nvPr/>
        </p:nvSpPr>
        <p:spPr>
          <a:xfrm>
            <a:off x="1028700" y="497590"/>
            <a:ext cx="17259300" cy="1028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 올림픽 상대 연도 기준 GDP 성장률</a:t>
            </a:r>
            <a:endParaRPr/>
          </a:p>
        </p:txBody>
      </p:sp>
      <p:sp>
        <p:nvSpPr>
          <p:cNvPr id="409" name="Google Shape;409;p20"/>
          <p:cNvSpPr txBox="1"/>
          <p:nvPr/>
        </p:nvSpPr>
        <p:spPr>
          <a:xfrm>
            <a:off x="1028700" y="1555074"/>
            <a:ext cx="160026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5775" lvl="1" marL="9715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65A62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데이터 수집 및 전처리 - 하계</a:t>
            </a:r>
            <a:endParaRPr/>
          </a:p>
        </p:txBody>
      </p:sp>
      <p:sp>
        <p:nvSpPr>
          <p:cNvPr id="410" name="Google Shape;410;p20"/>
          <p:cNvSpPr txBox="1"/>
          <p:nvPr/>
        </p:nvSpPr>
        <p:spPr>
          <a:xfrm>
            <a:off x="9658350" y="1600776"/>
            <a:ext cx="1109488" cy="461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Kaggle</a:t>
            </a:r>
            <a:endParaRPr/>
          </a:p>
        </p:txBody>
      </p:sp>
      <p:grpSp>
        <p:nvGrpSpPr>
          <p:cNvPr id="411" name="Google Shape;411;p20"/>
          <p:cNvGrpSpPr/>
          <p:nvPr/>
        </p:nvGrpSpPr>
        <p:grpSpPr>
          <a:xfrm>
            <a:off x="9178252" y="6951865"/>
            <a:ext cx="7600950" cy="1780830"/>
            <a:chOff x="0" y="-114300"/>
            <a:chExt cx="2001896" cy="469025"/>
          </a:xfrm>
        </p:grpSpPr>
        <p:sp>
          <p:nvSpPr>
            <p:cNvPr id="412" name="Google Shape;412;p20"/>
            <p:cNvSpPr/>
            <p:nvPr/>
          </p:nvSpPr>
          <p:spPr>
            <a:xfrm>
              <a:off x="0" y="0"/>
              <a:ext cx="2001896" cy="354725"/>
            </a:xfrm>
            <a:custGeom>
              <a:rect b="b" l="l" r="r" t="t"/>
              <a:pathLst>
                <a:path extrusionOk="0" h="354725" w="2001896">
                  <a:moveTo>
                    <a:pt x="0" y="0"/>
                  </a:moveTo>
                  <a:lnTo>
                    <a:pt x="2001896" y="0"/>
                  </a:lnTo>
                  <a:lnTo>
                    <a:pt x="2001896" y="354725"/>
                  </a:lnTo>
                  <a:lnTo>
                    <a:pt x="0" y="354725"/>
                  </a:lnTo>
                  <a:close/>
                </a:path>
              </a:pathLst>
            </a:custGeom>
            <a:solidFill>
              <a:srgbClr val="D4B998"/>
            </a:solidFill>
            <a:ln>
              <a:noFill/>
            </a:ln>
          </p:spPr>
        </p:sp>
        <p:sp>
          <p:nvSpPr>
            <p:cNvPr id="413" name="Google Shape;413;p20"/>
            <p:cNvSpPr txBox="1"/>
            <p:nvPr/>
          </p:nvSpPr>
          <p:spPr>
            <a:xfrm>
              <a:off x="0" y="-114300"/>
              <a:ext cx="2001896" cy="469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시간 흐름에 따른 GDP 변화 패턴을 한눈에 비교할 수 있도록 히트맵용 데이터를 생성</a:t>
              </a:r>
              <a:endParaRPr/>
            </a:p>
          </p:txBody>
        </p:sp>
      </p:grpSp>
      <p:grpSp>
        <p:nvGrpSpPr>
          <p:cNvPr id="414" name="Google Shape;414;p20"/>
          <p:cNvGrpSpPr/>
          <p:nvPr/>
        </p:nvGrpSpPr>
        <p:grpSpPr>
          <a:xfrm>
            <a:off x="7764885" y="7609763"/>
            <a:ext cx="899017" cy="899017"/>
            <a:chOff x="0" y="0"/>
            <a:chExt cx="812800" cy="812800"/>
          </a:xfrm>
        </p:grpSpPr>
        <p:sp>
          <p:nvSpPr>
            <p:cNvPr id="415" name="Google Shape;415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416" name="Google Shape;416;p20"/>
            <p:cNvSpPr txBox="1"/>
            <p:nvPr/>
          </p:nvSpPr>
          <p:spPr>
            <a:xfrm>
              <a:off x="0" y="136525"/>
              <a:ext cx="711200" cy="473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0DF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1" name="Google Shape;421;p21"/>
          <p:cNvCxnSpPr/>
          <p:nvPr/>
        </p:nvCxnSpPr>
        <p:spPr>
          <a:xfrm rot="10800000">
            <a:off x="740032" y="430923"/>
            <a:ext cx="0" cy="9425155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2" name="Google Shape;422;p21"/>
          <p:cNvSpPr/>
          <p:nvPr/>
        </p:nvSpPr>
        <p:spPr>
          <a:xfrm>
            <a:off x="3199716" y="2195172"/>
            <a:ext cx="11888568" cy="8084226"/>
          </a:xfrm>
          <a:custGeom>
            <a:rect b="b" l="l" r="r" t="t"/>
            <a:pathLst>
              <a:path extrusionOk="0" h="8084226" w="11888568">
                <a:moveTo>
                  <a:pt x="0" y="0"/>
                </a:moveTo>
                <a:lnTo>
                  <a:pt x="11888568" y="0"/>
                </a:lnTo>
                <a:lnTo>
                  <a:pt x="11888568" y="8084226"/>
                </a:lnTo>
                <a:lnTo>
                  <a:pt x="0" y="8084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3" name="Google Shape;423;p21"/>
          <p:cNvSpPr txBox="1"/>
          <p:nvPr/>
        </p:nvSpPr>
        <p:spPr>
          <a:xfrm>
            <a:off x="1028700" y="497590"/>
            <a:ext cx="17259300" cy="1028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 올림픽 상대 연도 기준 GDP 성장률</a:t>
            </a:r>
            <a:endParaRPr/>
          </a:p>
        </p:txBody>
      </p:sp>
      <p:sp>
        <p:nvSpPr>
          <p:cNvPr id="424" name="Google Shape;424;p21"/>
          <p:cNvSpPr txBox="1"/>
          <p:nvPr/>
        </p:nvSpPr>
        <p:spPr>
          <a:xfrm>
            <a:off x="1028700" y="1555074"/>
            <a:ext cx="160026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5775" lvl="1" marL="9715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65A62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히트맵 결과 - 하계</a:t>
            </a:r>
            <a:endParaRPr/>
          </a:p>
        </p:txBody>
      </p:sp>
      <p:sp>
        <p:nvSpPr>
          <p:cNvPr id="425" name="Google Shape;425;p21"/>
          <p:cNvSpPr txBox="1"/>
          <p:nvPr/>
        </p:nvSpPr>
        <p:spPr>
          <a:xfrm>
            <a:off x="7123618" y="1600776"/>
            <a:ext cx="1109488" cy="461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Kaggle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0DF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0" name="Google Shape;430;p22"/>
          <p:cNvCxnSpPr/>
          <p:nvPr/>
        </p:nvCxnSpPr>
        <p:spPr>
          <a:xfrm rot="10800000">
            <a:off x="740032" y="430923"/>
            <a:ext cx="0" cy="9425155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" name="Google Shape;431;p22"/>
          <p:cNvSpPr/>
          <p:nvPr/>
        </p:nvSpPr>
        <p:spPr>
          <a:xfrm>
            <a:off x="1636980" y="6543325"/>
            <a:ext cx="5498350" cy="3273928"/>
          </a:xfrm>
          <a:custGeom>
            <a:rect b="b" l="l" r="r" t="t"/>
            <a:pathLst>
              <a:path extrusionOk="0" h="3273928" w="5498350">
                <a:moveTo>
                  <a:pt x="0" y="0"/>
                </a:moveTo>
                <a:lnTo>
                  <a:pt x="5498351" y="0"/>
                </a:lnTo>
                <a:lnTo>
                  <a:pt x="5498351" y="3273928"/>
                </a:lnTo>
                <a:lnTo>
                  <a:pt x="0" y="327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8639" l="0" r="-191766" t="0"/>
            </a:stretch>
          </a:blipFill>
          <a:ln>
            <a:noFill/>
          </a:ln>
        </p:spPr>
      </p:sp>
      <p:sp>
        <p:nvSpPr>
          <p:cNvPr id="432" name="Google Shape;432;p22"/>
          <p:cNvSpPr/>
          <p:nvPr/>
        </p:nvSpPr>
        <p:spPr>
          <a:xfrm>
            <a:off x="1636980" y="2485154"/>
            <a:ext cx="16042740" cy="2927800"/>
          </a:xfrm>
          <a:custGeom>
            <a:rect b="b" l="l" r="r" t="t"/>
            <a:pathLst>
              <a:path extrusionOk="0" h="2927800" w="16042740">
                <a:moveTo>
                  <a:pt x="0" y="0"/>
                </a:moveTo>
                <a:lnTo>
                  <a:pt x="16042740" y="0"/>
                </a:lnTo>
                <a:lnTo>
                  <a:pt x="16042740" y="2927800"/>
                </a:lnTo>
                <a:lnTo>
                  <a:pt x="0" y="2927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33" name="Google Shape;433;p22"/>
          <p:cNvGrpSpPr/>
          <p:nvPr/>
        </p:nvGrpSpPr>
        <p:grpSpPr>
          <a:xfrm>
            <a:off x="3126724" y="2257667"/>
            <a:ext cx="1733670" cy="3298083"/>
            <a:chOff x="0" y="-47625"/>
            <a:chExt cx="456604" cy="868631"/>
          </a:xfrm>
        </p:grpSpPr>
        <p:sp>
          <p:nvSpPr>
            <p:cNvPr id="434" name="Google Shape;434;p22"/>
            <p:cNvSpPr/>
            <p:nvPr/>
          </p:nvSpPr>
          <p:spPr>
            <a:xfrm>
              <a:off x="0" y="0"/>
              <a:ext cx="456604" cy="821006"/>
            </a:xfrm>
            <a:custGeom>
              <a:rect b="b" l="l" r="r" t="t"/>
              <a:pathLst>
                <a:path extrusionOk="0" h="821006" w="456604">
                  <a:moveTo>
                    <a:pt x="75916" y="0"/>
                  </a:moveTo>
                  <a:lnTo>
                    <a:pt x="380689" y="0"/>
                  </a:lnTo>
                  <a:cubicBezTo>
                    <a:pt x="422616" y="0"/>
                    <a:pt x="456604" y="33989"/>
                    <a:pt x="456604" y="75916"/>
                  </a:cubicBezTo>
                  <a:lnTo>
                    <a:pt x="456604" y="745090"/>
                  </a:lnTo>
                  <a:cubicBezTo>
                    <a:pt x="456604" y="765225"/>
                    <a:pt x="448606" y="784534"/>
                    <a:pt x="434369" y="798771"/>
                  </a:cubicBezTo>
                  <a:cubicBezTo>
                    <a:pt x="420132" y="813008"/>
                    <a:pt x="400823" y="821006"/>
                    <a:pt x="380689" y="821006"/>
                  </a:cubicBezTo>
                  <a:lnTo>
                    <a:pt x="75916" y="821006"/>
                  </a:lnTo>
                  <a:cubicBezTo>
                    <a:pt x="55782" y="821006"/>
                    <a:pt x="36472" y="813008"/>
                    <a:pt x="22235" y="798771"/>
                  </a:cubicBezTo>
                  <a:cubicBezTo>
                    <a:pt x="7998" y="784534"/>
                    <a:pt x="0" y="765225"/>
                    <a:pt x="0" y="745090"/>
                  </a:cubicBezTo>
                  <a:lnTo>
                    <a:pt x="0" y="75916"/>
                  </a:lnTo>
                  <a:cubicBezTo>
                    <a:pt x="0" y="55782"/>
                    <a:pt x="7998" y="36472"/>
                    <a:pt x="22235" y="22235"/>
                  </a:cubicBezTo>
                  <a:cubicBezTo>
                    <a:pt x="36472" y="7998"/>
                    <a:pt x="55782" y="0"/>
                    <a:pt x="75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2"/>
            <p:cNvSpPr txBox="1"/>
            <p:nvPr/>
          </p:nvSpPr>
          <p:spPr>
            <a:xfrm>
              <a:off x="0" y="-47625"/>
              <a:ext cx="456604" cy="868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6" name="Google Shape;436;p22"/>
          <p:cNvGrpSpPr/>
          <p:nvPr/>
        </p:nvGrpSpPr>
        <p:grpSpPr>
          <a:xfrm>
            <a:off x="2817106" y="6317900"/>
            <a:ext cx="1760650" cy="3593626"/>
            <a:chOff x="0" y="-47625"/>
            <a:chExt cx="463710" cy="946469"/>
          </a:xfrm>
        </p:grpSpPr>
        <p:sp>
          <p:nvSpPr>
            <p:cNvPr id="437" name="Google Shape;437;p22"/>
            <p:cNvSpPr/>
            <p:nvPr/>
          </p:nvSpPr>
          <p:spPr>
            <a:xfrm>
              <a:off x="0" y="0"/>
              <a:ext cx="463710" cy="898844"/>
            </a:xfrm>
            <a:custGeom>
              <a:rect b="b" l="l" r="r" t="t"/>
              <a:pathLst>
                <a:path extrusionOk="0" h="898844" w="463710">
                  <a:moveTo>
                    <a:pt x="74752" y="0"/>
                  </a:moveTo>
                  <a:lnTo>
                    <a:pt x="388958" y="0"/>
                  </a:lnTo>
                  <a:cubicBezTo>
                    <a:pt x="430243" y="0"/>
                    <a:pt x="463710" y="33468"/>
                    <a:pt x="463710" y="74752"/>
                  </a:cubicBezTo>
                  <a:lnTo>
                    <a:pt x="463710" y="824092"/>
                  </a:lnTo>
                  <a:cubicBezTo>
                    <a:pt x="463710" y="843918"/>
                    <a:pt x="455835" y="862931"/>
                    <a:pt x="441816" y="876950"/>
                  </a:cubicBezTo>
                  <a:cubicBezTo>
                    <a:pt x="427797" y="890969"/>
                    <a:pt x="408784" y="898844"/>
                    <a:pt x="388958" y="898844"/>
                  </a:cubicBezTo>
                  <a:lnTo>
                    <a:pt x="74752" y="898844"/>
                  </a:lnTo>
                  <a:cubicBezTo>
                    <a:pt x="54927" y="898844"/>
                    <a:pt x="35913" y="890969"/>
                    <a:pt x="21894" y="876950"/>
                  </a:cubicBezTo>
                  <a:cubicBezTo>
                    <a:pt x="7876" y="862931"/>
                    <a:pt x="0" y="843918"/>
                    <a:pt x="0" y="824092"/>
                  </a:cubicBezTo>
                  <a:lnTo>
                    <a:pt x="0" y="74752"/>
                  </a:lnTo>
                  <a:cubicBezTo>
                    <a:pt x="0" y="54927"/>
                    <a:pt x="7876" y="35913"/>
                    <a:pt x="21894" y="21894"/>
                  </a:cubicBezTo>
                  <a:cubicBezTo>
                    <a:pt x="35913" y="7876"/>
                    <a:pt x="54927" y="0"/>
                    <a:pt x="747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2"/>
            <p:cNvSpPr txBox="1"/>
            <p:nvPr/>
          </p:nvSpPr>
          <p:spPr>
            <a:xfrm>
              <a:off x="0" y="-47625"/>
              <a:ext cx="463710" cy="9464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9" name="Google Shape;439;p22"/>
          <p:cNvGrpSpPr/>
          <p:nvPr/>
        </p:nvGrpSpPr>
        <p:grpSpPr>
          <a:xfrm>
            <a:off x="3429486" y="5521232"/>
            <a:ext cx="956669" cy="933535"/>
            <a:chOff x="0" y="-66675"/>
            <a:chExt cx="812800" cy="793145"/>
          </a:xfrm>
        </p:grpSpPr>
        <p:sp>
          <p:nvSpPr>
            <p:cNvPr id="440" name="Google Shape;440;p22"/>
            <p:cNvSpPr/>
            <p:nvPr/>
          </p:nvSpPr>
          <p:spPr>
            <a:xfrm>
              <a:off x="0" y="0"/>
              <a:ext cx="812800" cy="726470"/>
            </a:xfrm>
            <a:custGeom>
              <a:rect b="b" l="l" r="r" t="t"/>
              <a:pathLst>
                <a:path extrusionOk="0" h="726470" w="812800">
                  <a:moveTo>
                    <a:pt x="406400" y="726470"/>
                  </a:moveTo>
                  <a:lnTo>
                    <a:pt x="0" y="320070"/>
                  </a:lnTo>
                  <a:lnTo>
                    <a:pt x="203200" y="32007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320070"/>
                  </a:lnTo>
                  <a:lnTo>
                    <a:pt x="812800" y="320070"/>
                  </a:lnTo>
                  <a:lnTo>
                    <a:pt x="406400" y="72647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441" name="Google Shape;441;p22"/>
            <p:cNvSpPr txBox="1"/>
            <p:nvPr/>
          </p:nvSpPr>
          <p:spPr>
            <a:xfrm>
              <a:off x="203200" y="-66675"/>
              <a:ext cx="406400" cy="691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2" name="Google Shape;442;p22"/>
          <p:cNvGrpSpPr/>
          <p:nvPr/>
        </p:nvGrpSpPr>
        <p:grpSpPr>
          <a:xfrm>
            <a:off x="4577757" y="6336950"/>
            <a:ext cx="2368767" cy="3574576"/>
            <a:chOff x="0" y="-47625"/>
            <a:chExt cx="623873" cy="941452"/>
          </a:xfrm>
        </p:grpSpPr>
        <p:sp>
          <p:nvSpPr>
            <p:cNvPr id="443" name="Google Shape;443;p22"/>
            <p:cNvSpPr/>
            <p:nvPr/>
          </p:nvSpPr>
          <p:spPr>
            <a:xfrm>
              <a:off x="0" y="0"/>
              <a:ext cx="623873" cy="893827"/>
            </a:xfrm>
            <a:custGeom>
              <a:rect b="b" l="l" r="r" t="t"/>
              <a:pathLst>
                <a:path extrusionOk="0" h="893827" w="623873">
                  <a:moveTo>
                    <a:pt x="55562" y="0"/>
                  </a:moveTo>
                  <a:lnTo>
                    <a:pt x="568311" y="0"/>
                  </a:lnTo>
                  <a:cubicBezTo>
                    <a:pt x="598997" y="0"/>
                    <a:pt x="623873" y="24876"/>
                    <a:pt x="623873" y="55562"/>
                  </a:cubicBezTo>
                  <a:lnTo>
                    <a:pt x="623873" y="838266"/>
                  </a:lnTo>
                  <a:cubicBezTo>
                    <a:pt x="623873" y="868951"/>
                    <a:pt x="598997" y="893827"/>
                    <a:pt x="568311" y="893827"/>
                  </a:cubicBezTo>
                  <a:lnTo>
                    <a:pt x="55562" y="893827"/>
                  </a:lnTo>
                  <a:cubicBezTo>
                    <a:pt x="24876" y="893827"/>
                    <a:pt x="0" y="868951"/>
                    <a:pt x="0" y="838266"/>
                  </a:cubicBezTo>
                  <a:lnTo>
                    <a:pt x="0" y="55562"/>
                  </a:lnTo>
                  <a:cubicBezTo>
                    <a:pt x="0" y="24876"/>
                    <a:pt x="24876" y="0"/>
                    <a:pt x="5556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2"/>
            <p:cNvSpPr txBox="1"/>
            <p:nvPr/>
          </p:nvSpPr>
          <p:spPr>
            <a:xfrm>
              <a:off x="0" y="-47625"/>
              <a:ext cx="623873" cy="941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5" name="Google Shape;445;p22"/>
          <p:cNvSpPr/>
          <p:nvPr/>
        </p:nvSpPr>
        <p:spPr>
          <a:xfrm>
            <a:off x="11457847" y="5583834"/>
            <a:ext cx="6221873" cy="4471769"/>
          </a:xfrm>
          <a:custGeom>
            <a:rect b="b" l="l" r="r" t="t"/>
            <a:pathLst>
              <a:path extrusionOk="0" h="4471769" w="6221873">
                <a:moveTo>
                  <a:pt x="0" y="0"/>
                </a:moveTo>
                <a:lnTo>
                  <a:pt x="6221873" y="0"/>
                </a:lnTo>
                <a:lnTo>
                  <a:pt x="6221873" y="4471769"/>
                </a:lnTo>
                <a:lnTo>
                  <a:pt x="0" y="4471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2156" l="0" r="0" t="0"/>
            </a:stretch>
          </a:blipFill>
          <a:ln>
            <a:noFill/>
          </a:ln>
        </p:spPr>
      </p:sp>
      <p:sp>
        <p:nvSpPr>
          <p:cNvPr id="446" name="Google Shape;446;p22"/>
          <p:cNvSpPr txBox="1"/>
          <p:nvPr/>
        </p:nvSpPr>
        <p:spPr>
          <a:xfrm>
            <a:off x="1028700" y="497590"/>
            <a:ext cx="17259300" cy="1028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 올림픽 상대 연도 기준 GDP 성장률</a:t>
            </a:r>
            <a:endParaRPr/>
          </a:p>
        </p:txBody>
      </p:sp>
      <p:sp>
        <p:nvSpPr>
          <p:cNvPr id="447" name="Google Shape;447;p22"/>
          <p:cNvSpPr txBox="1"/>
          <p:nvPr/>
        </p:nvSpPr>
        <p:spPr>
          <a:xfrm>
            <a:off x="1028700" y="1555074"/>
            <a:ext cx="160026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5775" lvl="1" marL="9715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65A62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데이터 수집 및 전처리 - 동계</a:t>
            </a:r>
            <a:endParaRPr/>
          </a:p>
        </p:txBody>
      </p:sp>
      <p:grpSp>
        <p:nvGrpSpPr>
          <p:cNvPr id="448" name="Google Shape;448;p22"/>
          <p:cNvGrpSpPr/>
          <p:nvPr/>
        </p:nvGrpSpPr>
        <p:grpSpPr>
          <a:xfrm>
            <a:off x="9030037" y="8359283"/>
            <a:ext cx="899017" cy="899017"/>
            <a:chOff x="0" y="0"/>
            <a:chExt cx="812800" cy="812800"/>
          </a:xfrm>
        </p:grpSpPr>
        <p:sp>
          <p:nvSpPr>
            <p:cNvPr id="449" name="Google Shape;449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450" name="Google Shape;450;p22"/>
            <p:cNvSpPr txBox="1"/>
            <p:nvPr/>
          </p:nvSpPr>
          <p:spPr>
            <a:xfrm>
              <a:off x="0" y="136525"/>
              <a:ext cx="711200" cy="473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1" name="Google Shape;451;p22"/>
          <p:cNvGrpSpPr/>
          <p:nvPr/>
        </p:nvGrpSpPr>
        <p:grpSpPr>
          <a:xfrm>
            <a:off x="11457847" y="5403008"/>
            <a:ext cx="1422836" cy="4652595"/>
            <a:chOff x="0" y="-47625"/>
            <a:chExt cx="374739" cy="1225375"/>
          </a:xfrm>
        </p:grpSpPr>
        <p:sp>
          <p:nvSpPr>
            <p:cNvPr id="452" name="Google Shape;452;p22"/>
            <p:cNvSpPr/>
            <p:nvPr/>
          </p:nvSpPr>
          <p:spPr>
            <a:xfrm>
              <a:off x="0" y="0"/>
              <a:ext cx="374739" cy="1177750"/>
            </a:xfrm>
            <a:custGeom>
              <a:rect b="b" l="l" r="r" t="t"/>
              <a:pathLst>
                <a:path extrusionOk="0" h="1177750" w="374739">
                  <a:moveTo>
                    <a:pt x="92500" y="0"/>
                  </a:moveTo>
                  <a:lnTo>
                    <a:pt x="282238" y="0"/>
                  </a:lnTo>
                  <a:cubicBezTo>
                    <a:pt x="306771" y="0"/>
                    <a:pt x="330299" y="9746"/>
                    <a:pt x="347646" y="27093"/>
                  </a:cubicBezTo>
                  <a:cubicBezTo>
                    <a:pt x="364993" y="44440"/>
                    <a:pt x="374739" y="67968"/>
                    <a:pt x="374739" y="92500"/>
                  </a:cubicBezTo>
                  <a:lnTo>
                    <a:pt x="374739" y="1085250"/>
                  </a:lnTo>
                  <a:cubicBezTo>
                    <a:pt x="374739" y="1109782"/>
                    <a:pt x="364993" y="1133310"/>
                    <a:pt x="347646" y="1150657"/>
                  </a:cubicBezTo>
                  <a:cubicBezTo>
                    <a:pt x="330299" y="1168004"/>
                    <a:pt x="306771" y="1177750"/>
                    <a:pt x="282238" y="1177750"/>
                  </a:cubicBezTo>
                  <a:lnTo>
                    <a:pt x="92500" y="1177750"/>
                  </a:lnTo>
                  <a:cubicBezTo>
                    <a:pt x="67968" y="1177750"/>
                    <a:pt x="44440" y="1168004"/>
                    <a:pt x="27093" y="1150657"/>
                  </a:cubicBezTo>
                  <a:cubicBezTo>
                    <a:pt x="9746" y="1133310"/>
                    <a:pt x="0" y="1109782"/>
                    <a:pt x="0" y="1085250"/>
                  </a:cubicBezTo>
                  <a:lnTo>
                    <a:pt x="0" y="92500"/>
                  </a:lnTo>
                  <a:cubicBezTo>
                    <a:pt x="0" y="67968"/>
                    <a:pt x="9746" y="44440"/>
                    <a:pt x="27093" y="27093"/>
                  </a:cubicBezTo>
                  <a:cubicBezTo>
                    <a:pt x="44440" y="9746"/>
                    <a:pt x="67968" y="0"/>
                    <a:pt x="925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2"/>
            <p:cNvSpPr txBox="1"/>
            <p:nvPr/>
          </p:nvSpPr>
          <p:spPr>
            <a:xfrm>
              <a:off x="0" y="-47625"/>
              <a:ext cx="374739" cy="1225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4" name="Google Shape;454;p22"/>
          <p:cNvSpPr txBox="1"/>
          <p:nvPr/>
        </p:nvSpPr>
        <p:spPr>
          <a:xfrm>
            <a:off x="9486783" y="1600776"/>
            <a:ext cx="1109488" cy="461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Kaggle</a:t>
            </a:r>
            <a:endParaRPr/>
          </a:p>
        </p:txBody>
      </p:sp>
      <p:sp>
        <p:nvSpPr>
          <p:cNvPr id="455" name="Google Shape;455;p22"/>
          <p:cNvSpPr txBox="1"/>
          <p:nvPr/>
        </p:nvSpPr>
        <p:spPr>
          <a:xfrm>
            <a:off x="4577757" y="5602884"/>
            <a:ext cx="3704435" cy="698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9880" lvl="1" marL="53976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65A62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동계 올림픽 데이터만 추출</a:t>
            </a:r>
            <a:endParaRPr/>
          </a:p>
        </p:txBody>
      </p:sp>
      <p:sp>
        <p:nvSpPr>
          <p:cNvPr id="456" name="Google Shape;456;p22"/>
          <p:cNvSpPr txBox="1"/>
          <p:nvPr/>
        </p:nvSpPr>
        <p:spPr>
          <a:xfrm>
            <a:off x="7634565" y="6739534"/>
            <a:ext cx="3704435" cy="1041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나라 이름을 이용하여 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전체 올림픽 종목과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GDP데이터를 매핑</a:t>
            </a:r>
            <a:endParaRPr/>
          </a:p>
        </p:txBody>
      </p:sp>
      <p:grpSp>
        <p:nvGrpSpPr>
          <p:cNvPr id="457" name="Google Shape;457;p22"/>
          <p:cNvGrpSpPr/>
          <p:nvPr/>
        </p:nvGrpSpPr>
        <p:grpSpPr>
          <a:xfrm>
            <a:off x="14568783" y="4386072"/>
            <a:ext cx="3110936" cy="1026881"/>
            <a:chOff x="0" y="-76200"/>
            <a:chExt cx="819341" cy="270455"/>
          </a:xfrm>
        </p:grpSpPr>
        <p:sp>
          <p:nvSpPr>
            <p:cNvPr id="458" name="Google Shape;458;p22"/>
            <p:cNvSpPr/>
            <p:nvPr/>
          </p:nvSpPr>
          <p:spPr>
            <a:xfrm>
              <a:off x="0" y="0"/>
              <a:ext cx="819341" cy="194255"/>
            </a:xfrm>
            <a:custGeom>
              <a:rect b="b" l="l" r="r" t="t"/>
              <a:pathLst>
                <a:path extrusionOk="0" h="194255" w="819341">
                  <a:moveTo>
                    <a:pt x="0" y="0"/>
                  </a:moveTo>
                  <a:lnTo>
                    <a:pt x="819341" y="0"/>
                  </a:lnTo>
                  <a:lnTo>
                    <a:pt x="819341" y="194255"/>
                  </a:lnTo>
                  <a:lnTo>
                    <a:pt x="0" y="19425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59" name="Google Shape;459;p22"/>
            <p:cNvSpPr txBox="1"/>
            <p:nvPr/>
          </p:nvSpPr>
          <p:spPr>
            <a:xfrm>
              <a:off x="0" y="-76200"/>
              <a:ext cx="819341" cy="2704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올림픽 종목 및 메달 데이터</a:t>
              </a:r>
              <a:endParaRPr/>
            </a:p>
          </p:txBody>
        </p:sp>
      </p:grpSp>
      <p:grpSp>
        <p:nvGrpSpPr>
          <p:cNvPr id="460" name="Google Shape;460;p22"/>
          <p:cNvGrpSpPr/>
          <p:nvPr/>
        </p:nvGrpSpPr>
        <p:grpSpPr>
          <a:xfrm>
            <a:off x="15210665" y="9028721"/>
            <a:ext cx="2469055" cy="1026881"/>
            <a:chOff x="0" y="-76200"/>
            <a:chExt cx="650286" cy="270455"/>
          </a:xfrm>
        </p:grpSpPr>
        <p:sp>
          <p:nvSpPr>
            <p:cNvPr id="461" name="Google Shape;461;p22"/>
            <p:cNvSpPr/>
            <p:nvPr/>
          </p:nvSpPr>
          <p:spPr>
            <a:xfrm>
              <a:off x="0" y="0"/>
              <a:ext cx="650286" cy="194255"/>
            </a:xfrm>
            <a:custGeom>
              <a:rect b="b" l="l" r="r" t="t"/>
              <a:pathLst>
                <a:path extrusionOk="0" h="194255" w="650286">
                  <a:moveTo>
                    <a:pt x="0" y="0"/>
                  </a:moveTo>
                  <a:lnTo>
                    <a:pt x="650286" y="0"/>
                  </a:lnTo>
                  <a:lnTo>
                    <a:pt x="650286" y="194255"/>
                  </a:lnTo>
                  <a:lnTo>
                    <a:pt x="0" y="19425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62" name="Google Shape;462;p22"/>
            <p:cNvSpPr txBox="1"/>
            <p:nvPr/>
          </p:nvSpPr>
          <p:spPr>
            <a:xfrm>
              <a:off x="0" y="-76200"/>
              <a:ext cx="650286" cy="2704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나라별 GDP데이터</a:t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0DF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7" name="Google Shape;467;p23"/>
          <p:cNvCxnSpPr/>
          <p:nvPr/>
        </p:nvCxnSpPr>
        <p:spPr>
          <a:xfrm rot="10800000">
            <a:off x="740032" y="430923"/>
            <a:ext cx="0" cy="9425155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8" name="Google Shape;468;p23"/>
          <p:cNvSpPr/>
          <p:nvPr/>
        </p:nvSpPr>
        <p:spPr>
          <a:xfrm>
            <a:off x="1238619" y="4125445"/>
            <a:ext cx="6221873" cy="4471769"/>
          </a:xfrm>
          <a:custGeom>
            <a:rect b="b" l="l" r="r" t="t"/>
            <a:pathLst>
              <a:path extrusionOk="0" h="4471769" w="6221873">
                <a:moveTo>
                  <a:pt x="0" y="0"/>
                </a:moveTo>
                <a:lnTo>
                  <a:pt x="6221873" y="0"/>
                </a:lnTo>
                <a:lnTo>
                  <a:pt x="6221873" y="4471769"/>
                </a:lnTo>
                <a:lnTo>
                  <a:pt x="0" y="4471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2156" l="0" r="0" t="0"/>
            </a:stretch>
          </a:blipFill>
          <a:ln>
            <a:noFill/>
          </a:ln>
        </p:spPr>
      </p:sp>
      <p:sp>
        <p:nvSpPr>
          <p:cNvPr id="469" name="Google Shape;469;p23"/>
          <p:cNvSpPr/>
          <p:nvPr/>
        </p:nvSpPr>
        <p:spPr>
          <a:xfrm>
            <a:off x="9144000" y="3464358"/>
            <a:ext cx="8261111" cy="5793942"/>
          </a:xfrm>
          <a:custGeom>
            <a:rect b="b" l="l" r="r" t="t"/>
            <a:pathLst>
              <a:path extrusionOk="0" h="5793942" w="8261111">
                <a:moveTo>
                  <a:pt x="0" y="0"/>
                </a:moveTo>
                <a:lnTo>
                  <a:pt x="8261111" y="0"/>
                </a:lnTo>
                <a:lnTo>
                  <a:pt x="8261111" y="5793942"/>
                </a:lnTo>
                <a:lnTo>
                  <a:pt x="0" y="57939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0" name="Google Shape;470;p23"/>
          <p:cNvSpPr txBox="1"/>
          <p:nvPr/>
        </p:nvSpPr>
        <p:spPr>
          <a:xfrm>
            <a:off x="1028700" y="497590"/>
            <a:ext cx="17259300" cy="1028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 올림픽 상대 연도 기준 GDP 성장률</a:t>
            </a:r>
            <a:endParaRPr/>
          </a:p>
        </p:txBody>
      </p:sp>
      <p:sp>
        <p:nvSpPr>
          <p:cNvPr id="471" name="Google Shape;471;p23"/>
          <p:cNvSpPr txBox="1"/>
          <p:nvPr/>
        </p:nvSpPr>
        <p:spPr>
          <a:xfrm>
            <a:off x="1028700" y="1555074"/>
            <a:ext cx="160026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5775" lvl="1" marL="9715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65A62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데이터 수집 및 전처리 - 동계</a:t>
            </a:r>
            <a:endParaRPr/>
          </a:p>
        </p:txBody>
      </p:sp>
      <p:grpSp>
        <p:nvGrpSpPr>
          <p:cNvPr id="472" name="Google Shape;472;p23"/>
          <p:cNvGrpSpPr/>
          <p:nvPr/>
        </p:nvGrpSpPr>
        <p:grpSpPr>
          <a:xfrm>
            <a:off x="1724719" y="3944619"/>
            <a:ext cx="1007330" cy="4652595"/>
            <a:chOff x="0" y="-47625"/>
            <a:chExt cx="265305" cy="1225375"/>
          </a:xfrm>
        </p:grpSpPr>
        <p:sp>
          <p:nvSpPr>
            <p:cNvPr id="473" name="Google Shape;473;p23"/>
            <p:cNvSpPr/>
            <p:nvPr/>
          </p:nvSpPr>
          <p:spPr>
            <a:xfrm>
              <a:off x="0" y="0"/>
              <a:ext cx="265305" cy="1177750"/>
            </a:xfrm>
            <a:custGeom>
              <a:rect b="b" l="l" r="r" t="t"/>
              <a:pathLst>
                <a:path extrusionOk="0" h="1177750" w="265305">
                  <a:moveTo>
                    <a:pt x="130655" y="0"/>
                  </a:moveTo>
                  <a:lnTo>
                    <a:pt x="134650" y="0"/>
                  </a:lnTo>
                  <a:cubicBezTo>
                    <a:pt x="206809" y="0"/>
                    <a:pt x="265305" y="58496"/>
                    <a:pt x="265305" y="130655"/>
                  </a:cubicBezTo>
                  <a:lnTo>
                    <a:pt x="265305" y="1047095"/>
                  </a:lnTo>
                  <a:cubicBezTo>
                    <a:pt x="265305" y="1119254"/>
                    <a:pt x="206809" y="1177750"/>
                    <a:pt x="134650" y="1177750"/>
                  </a:cubicBezTo>
                  <a:lnTo>
                    <a:pt x="130655" y="1177750"/>
                  </a:lnTo>
                  <a:cubicBezTo>
                    <a:pt x="58496" y="1177750"/>
                    <a:pt x="0" y="1119254"/>
                    <a:pt x="0" y="1047095"/>
                  </a:cubicBezTo>
                  <a:lnTo>
                    <a:pt x="0" y="130655"/>
                  </a:lnTo>
                  <a:cubicBezTo>
                    <a:pt x="0" y="58496"/>
                    <a:pt x="58496" y="0"/>
                    <a:pt x="13065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3"/>
            <p:cNvSpPr txBox="1"/>
            <p:nvPr/>
          </p:nvSpPr>
          <p:spPr>
            <a:xfrm>
              <a:off x="0" y="-47625"/>
              <a:ext cx="265305" cy="1225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5" name="Google Shape;475;p23"/>
          <p:cNvGrpSpPr/>
          <p:nvPr/>
        </p:nvGrpSpPr>
        <p:grpSpPr>
          <a:xfrm>
            <a:off x="12366818" y="3283532"/>
            <a:ext cx="1514078" cy="5974768"/>
            <a:chOff x="0" y="-47625"/>
            <a:chExt cx="398770" cy="1573601"/>
          </a:xfrm>
        </p:grpSpPr>
        <p:sp>
          <p:nvSpPr>
            <p:cNvPr id="476" name="Google Shape;476;p23"/>
            <p:cNvSpPr/>
            <p:nvPr/>
          </p:nvSpPr>
          <p:spPr>
            <a:xfrm>
              <a:off x="0" y="0"/>
              <a:ext cx="398770" cy="1525976"/>
            </a:xfrm>
            <a:custGeom>
              <a:rect b="b" l="l" r="r" t="t"/>
              <a:pathLst>
                <a:path extrusionOk="0" h="1525976" w="398770">
                  <a:moveTo>
                    <a:pt x="86926" y="0"/>
                  </a:moveTo>
                  <a:lnTo>
                    <a:pt x="311844" y="0"/>
                  </a:lnTo>
                  <a:cubicBezTo>
                    <a:pt x="334898" y="0"/>
                    <a:pt x="357008" y="9158"/>
                    <a:pt x="373310" y="25460"/>
                  </a:cubicBezTo>
                  <a:cubicBezTo>
                    <a:pt x="389611" y="41762"/>
                    <a:pt x="398770" y="63872"/>
                    <a:pt x="398770" y="86926"/>
                  </a:cubicBezTo>
                  <a:lnTo>
                    <a:pt x="398770" y="1439051"/>
                  </a:lnTo>
                  <a:cubicBezTo>
                    <a:pt x="398770" y="1462105"/>
                    <a:pt x="389611" y="1484215"/>
                    <a:pt x="373310" y="1500516"/>
                  </a:cubicBezTo>
                  <a:cubicBezTo>
                    <a:pt x="357008" y="1516818"/>
                    <a:pt x="334898" y="1525976"/>
                    <a:pt x="311844" y="1525976"/>
                  </a:cubicBezTo>
                  <a:lnTo>
                    <a:pt x="86926" y="1525976"/>
                  </a:lnTo>
                  <a:cubicBezTo>
                    <a:pt x="63872" y="1525976"/>
                    <a:pt x="41762" y="1516818"/>
                    <a:pt x="25460" y="1500516"/>
                  </a:cubicBezTo>
                  <a:cubicBezTo>
                    <a:pt x="9158" y="1484215"/>
                    <a:pt x="0" y="1462105"/>
                    <a:pt x="0" y="1439051"/>
                  </a:cubicBezTo>
                  <a:lnTo>
                    <a:pt x="0" y="86926"/>
                  </a:lnTo>
                  <a:cubicBezTo>
                    <a:pt x="0" y="63872"/>
                    <a:pt x="9158" y="41762"/>
                    <a:pt x="25460" y="25460"/>
                  </a:cubicBezTo>
                  <a:cubicBezTo>
                    <a:pt x="41762" y="9158"/>
                    <a:pt x="63872" y="0"/>
                    <a:pt x="869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3"/>
            <p:cNvSpPr txBox="1"/>
            <p:nvPr/>
          </p:nvSpPr>
          <p:spPr>
            <a:xfrm>
              <a:off x="0" y="-47625"/>
              <a:ext cx="398770" cy="15736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8" name="Google Shape;478;p23"/>
          <p:cNvGrpSpPr/>
          <p:nvPr/>
        </p:nvGrpSpPr>
        <p:grpSpPr>
          <a:xfrm>
            <a:off x="9816558" y="3283532"/>
            <a:ext cx="922872" cy="6127168"/>
            <a:chOff x="0" y="-47625"/>
            <a:chExt cx="243061" cy="1613740"/>
          </a:xfrm>
        </p:grpSpPr>
        <p:sp>
          <p:nvSpPr>
            <p:cNvPr id="479" name="Google Shape;479;p23"/>
            <p:cNvSpPr/>
            <p:nvPr/>
          </p:nvSpPr>
          <p:spPr>
            <a:xfrm>
              <a:off x="0" y="0"/>
              <a:ext cx="243061" cy="1566115"/>
            </a:xfrm>
            <a:custGeom>
              <a:rect b="b" l="l" r="r" t="t"/>
              <a:pathLst>
                <a:path extrusionOk="0" h="1566115" w="243061">
                  <a:moveTo>
                    <a:pt x="121530" y="0"/>
                  </a:moveTo>
                  <a:lnTo>
                    <a:pt x="121530" y="0"/>
                  </a:lnTo>
                  <a:cubicBezTo>
                    <a:pt x="153762" y="0"/>
                    <a:pt x="184674" y="12804"/>
                    <a:pt x="207465" y="35595"/>
                  </a:cubicBezTo>
                  <a:cubicBezTo>
                    <a:pt x="230257" y="58387"/>
                    <a:pt x="243061" y="89299"/>
                    <a:pt x="243061" y="121530"/>
                  </a:cubicBezTo>
                  <a:lnTo>
                    <a:pt x="243061" y="1444584"/>
                  </a:lnTo>
                  <a:cubicBezTo>
                    <a:pt x="243061" y="1511704"/>
                    <a:pt x="188650" y="1566115"/>
                    <a:pt x="121530" y="1566115"/>
                  </a:cubicBezTo>
                  <a:lnTo>
                    <a:pt x="121530" y="1566115"/>
                  </a:lnTo>
                  <a:cubicBezTo>
                    <a:pt x="89299" y="1566115"/>
                    <a:pt x="58387" y="1553311"/>
                    <a:pt x="35595" y="1530519"/>
                  </a:cubicBezTo>
                  <a:cubicBezTo>
                    <a:pt x="12804" y="1507728"/>
                    <a:pt x="0" y="1476816"/>
                    <a:pt x="0" y="1444584"/>
                  </a:cubicBezTo>
                  <a:lnTo>
                    <a:pt x="0" y="121530"/>
                  </a:lnTo>
                  <a:cubicBezTo>
                    <a:pt x="0" y="54411"/>
                    <a:pt x="54411" y="0"/>
                    <a:pt x="12153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0">
              <a:solidFill>
                <a:srgbClr val="FF66C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3"/>
            <p:cNvSpPr txBox="1"/>
            <p:nvPr/>
          </p:nvSpPr>
          <p:spPr>
            <a:xfrm>
              <a:off x="0" y="-47625"/>
              <a:ext cx="243061" cy="1613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1" name="Google Shape;481;p23"/>
          <p:cNvGrpSpPr/>
          <p:nvPr/>
        </p:nvGrpSpPr>
        <p:grpSpPr>
          <a:xfrm>
            <a:off x="5222412" y="3841331"/>
            <a:ext cx="2238080" cy="924547"/>
            <a:chOff x="0" y="-47625"/>
            <a:chExt cx="589453" cy="243502"/>
          </a:xfrm>
        </p:grpSpPr>
        <p:sp>
          <p:nvSpPr>
            <p:cNvPr id="482" name="Google Shape;482;p23"/>
            <p:cNvSpPr/>
            <p:nvPr/>
          </p:nvSpPr>
          <p:spPr>
            <a:xfrm>
              <a:off x="0" y="0"/>
              <a:ext cx="589453" cy="195877"/>
            </a:xfrm>
            <a:custGeom>
              <a:rect b="b" l="l" r="r" t="t"/>
              <a:pathLst>
                <a:path extrusionOk="0" h="195877" w="589453">
                  <a:moveTo>
                    <a:pt x="58806" y="0"/>
                  </a:moveTo>
                  <a:lnTo>
                    <a:pt x="530647" y="0"/>
                  </a:lnTo>
                  <a:cubicBezTo>
                    <a:pt x="563125" y="0"/>
                    <a:pt x="589453" y="26328"/>
                    <a:pt x="589453" y="58806"/>
                  </a:cubicBezTo>
                  <a:lnTo>
                    <a:pt x="589453" y="137071"/>
                  </a:lnTo>
                  <a:cubicBezTo>
                    <a:pt x="589453" y="169549"/>
                    <a:pt x="563125" y="195877"/>
                    <a:pt x="530647" y="195877"/>
                  </a:cubicBezTo>
                  <a:lnTo>
                    <a:pt x="58806" y="195877"/>
                  </a:lnTo>
                  <a:cubicBezTo>
                    <a:pt x="43210" y="195877"/>
                    <a:pt x="28252" y="189682"/>
                    <a:pt x="17224" y="178653"/>
                  </a:cubicBezTo>
                  <a:cubicBezTo>
                    <a:pt x="6196" y="167625"/>
                    <a:pt x="0" y="152667"/>
                    <a:pt x="0" y="137071"/>
                  </a:cubicBezTo>
                  <a:lnTo>
                    <a:pt x="0" y="58806"/>
                  </a:lnTo>
                  <a:cubicBezTo>
                    <a:pt x="0" y="26328"/>
                    <a:pt x="26328" y="0"/>
                    <a:pt x="5880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0">
              <a:solidFill>
                <a:srgbClr val="FF66C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3"/>
            <p:cNvSpPr txBox="1"/>
            <p:nvPr/>
          </p:nvSpPr>
          <p:spPr>
            <a:xfrm>
              <a:off x="0" y="-47625"/>
              <a:ext cx="589453" cy="2435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4" name="Google Shape;484;p23"/>
          <p:cNvSpPr txBox="1"/>
          <p:nvPr/>
        </p:nvSpPr>
        <p:spPr>
          <a:xfrm>
            <a:off x="16164136" y="9395067"/>
            <a:ext cx="1734478" cy="461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worldbank</a:t>
            </a:r>
            <a:endParaRPr/>
          </a:p>
        </p:txBody>
      </p:sp>
      <p:grpSp>
        <p:nvGrpSpPr>
          <p:cNvPr id="485" name="Google Shape;485;p23"/>
          <p:cNvGrpSpPr/>
          <p:nvPr/>
        </p:nvGrpSpPr>
        <p:grpSpPr>
          <a:xfrm>
            <a:off x="4163747" y="7624998"/>
            <a:ext cx="3296744" cy="1026881"/>
            <a:chOff x="0" y="-76200"/>
            <a:chExt cx="868278" cy="270455"/>
          </a:xfrm>
        </p:grpSpPr>
        <p:sp>
          <p:nvSpPr>
            <p:cNvPr id="486" name="Google Shape;486;p23"/>
            <p:cNvSpPr/>
            <p:nvPr/>
          </p:nvSpPr>
          <p:spPr>
            <a:xfrm>
              <a:off x="0" y="0"/>
              <a:ext cx="868278" cy="194255"/>
            </a:xfrm>
            <a:custGeom>
              <a:rect b="b" l="l" r="r" t="t"/>
              <a:pathLst>
                <a:path extrusionOk="0" h="194255" w="868278">
                  <a:moveTo>
                    <a:pt x="0" y="0"/>
                  </a:moveTo>
                  <a:lnTo>
                    <a:pt x="868278" y="0"/>
                  </a:lnTo>
                  <a:lnTo>
                    <a:pt x="868278" y="194255"/>
                  </a:lnTo>
                  <a:lnTo>
                    <a:pt x="0" y="19425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87" name="Google Shape;487;p23"/>
            <p:cNvSpPr txBox="1"/>
            <p:nvPr/>
          </p:nvSpPr>
          <p:spPr>
            <a:xfrm>
              <a:off x="0" y="-76200"/>
              <a:ext cx="868278" cy="2704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매핑 후, 개최국 별 GDP데이터</a:t>
              </a:r>
              <a:endParaRPr/>
            </a:p>
          </p:txBody>
        </p:sp>
      </p:grpSp>
      <p:grpSp>
        <p:nvGrpSpPr>
          <p:cNvPr id="488" name="Google Shape;488;p23"/>
          <p:cNvGrpSpPr/>
          <p:nvPr/>
        </p:nvGrpSpPr>
        <p:grpSpPr>
          <a:xfrm>
            <a:off x="7852738" y="5988021"/>
            <a:ext cx="899017" cy="899017"/>
            <a:chOff x="0" y="0"/>
            <a:chExt cx="812800" cy="812800"/>
          </a:xfrm>
        </p:grpSpPr>
        <p:sp>
          <p:nvSpPr>
            <p:cNvPr id="489" name="Google Shape;489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490" name="Google Shape;490;p23"/>
            <p:cNvSpPr txBox="1"/>
            <p:nvPr/>
          </p:nvSpPr>
          <p:spPr>
            <a:xfrm>
              <a:off x="0" y="136525"/>
              <a:ext cx="711200" cy="473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0DF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5" name="Google Shape;495;p24"/>
          <p:cNvCxnSpPr/>
          <p:nvPr/>
        </p:nvCxnSpPr>
        <p:spPr>
          <a:xfrm rot="10800000">
            <a:off x="740032" y="430923"/>
            <a:ext cx="0" cy="9425155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6" name="Google Shape;496;p24"/>
          <p:cNvSpPr/>
          <p:nvPr/>
        </p:nvSpPr>
        <p:spPr>
          <a:xfrm>
            <a:off x="2092500" y="6085112"/>
            <a:ext cx="9609465" cy="3135088"/>
          </a:xfrm>
          <a:custGeom>
            <a:rect b="b" l="l" r="r" t="t"/>
            <a:pathLst>
              <a:path extrusionOk="0" h="3135088" w="9609465">
                <a:moveTo>
                  <a:pt x="0" y="0"/>
                </a:moveTo>
                <a:lnTo>
                  <a:pt x="9609466" y="0"/>
                </a:lnTo>
                <a:lnTo>
                  <a:pt x="9609466" y="3135088"/>
                </a:lnTo>
                <a:lnTo>
                  <a:pt x="0" y="31350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97" name="Google Shape;497;p24"/>
          <p:cNvGrpSpPr/>
          <p:nvPr/>
        </p:nvGrpSpPr>
        <p:grpSpPr>
          <a:xfrm>
            <a:off x="8321257" y="5904286"/>
            <a:ext cx="1930234" cy="3315914"/>
            <a:chOff x="0" y="-47625"/>
            <a:chExt cx="508374" cy="873327"/>
          </a:xfrm>
        </p:grpSpPr>
        <p:sp>
          <p:nvSpPr>
            <p:cNvPr id="498" name="Google Shape;498;p24"/>
            <p:cNvSpPr/>
            <p:nvPr/>
          </p:nvSpPr>
          <p:spPr>
            <a:xfrm>
              <a:off x="0" y="0"/>
              <a:ext cx="508374" cy="825702"/>
            </a:xfrm>
            <a:custGeom>
              <a:rect b="b" l="l" r="r" t="t"/>
              <a:pathLst>
                <a:path extrusionOk="0" h="825702" w="508374">
                  <a:moveTo>
                    <a:pt x="68185" y="0"/>
                  </a:moveTo>
                  <a:lnTo>
                    <a:pt x="440190" y="0"/>
                  </a:lnTo>
                  <a:cubicBezTo>
                    <a:pt x="458273" y="0"/>
                    <a:pt x="475617" y="7184"/>
                    <a:pt x="488404" y="19971"/>
                  </a:cubicBezTo>
                  <a:cubicBezTo>
                    <a:pt x="501191" y="32758"/>
                    <a:pt x="508374" y="50101"/>
                    <a:pt x="508374" y="68185"/>
                  </a:cubicBezTo>
                  <a:lnTo>
                    <a:pt x="508374" y="757517"/>
                  </a:lnTo>
                  <a:cubicBezTo>
                    <a:pt x="508374" y="775601"/>
                    <a:pt x="501191" y="792944"/>
                    <a:pt x="488404" y="805731"/>
                  </a:cubicBezTo>
                  <a:cubicBezTo>
                    <a:pt x="475617" y="818518"/>
                    <a:pt x="458273" y="825702"/>
                    <a:pt x="440190" y="825702"/>
                  </a:cubicBezTo>
                  <a:lnTo>
                    <a:pt x="68185" y="825702"/>
                  </a:lnTo>
                  <a:cubicBezTo>
                    <a:pt x="50101" y="825702"/>
                    <a:pt x="32758" y="818518"/>
                    <a:pt x="19971" y="805731"/>
                  </a:cubicBezTo>
                  <a:cubicBezTo>
                    <a:pt x="7184" y="792944"/>
                    <a:pt x="0" y="775601"/>
                    <a:pt x="0" y="757517"/>
                  </a:cubicBezTo>
                  <a:lnTo>
                    <a:pt x="0" y="68185"/>
                  </a:lnTo>
                  <a:cubicBezTo>
                    <a:pt x="0" y="50101"/>
                    <a:pt x="7184" y="32758"/>
                    <a:pt x="19971" y="19971"/>
                  </a:cubicBezTo>
                  <a:cubicBezTo>
                    <a:pt x="32758" y="7184"/>
                    <a:pt x="50101" y="0"/>
                    <a:pt x="6818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4"/>
            <p:cNvSpPr txBox="1"/>
            <p:nvPr/>
          </p:nvSpPr>
          <p:spPr>
            <a:xfrm>
              <a:off x="0" y="-47625"/>
              <a:ext cx="508374" cy="873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0" name="Google Shape;500;p24"/>
          <p:cNvGrpSpPr/>
          <p:nvPr/>
        </p:nvGrpSpPr>
        <p:grpSpPr>
          <a:xfrm>
            <a:off x="6531120" y="5904286"/>
            <a:ext cx="1790137" cy="3315914"/>
            <a:chOff x="0" y="-47625"/>
            <a:chExt cx="471476" cy="873327"/>
          </a:xfrm>
        </p:grpSpPr>
        <p:sp>
          <p:nvSpPr>
            <p:cNvPr id="501" name="Google Shape;501;p24"/>
            <p:cNvSpPr/>
            <p:nvPr/>
          </p:nvSpPr>
          <p:spPr>
            <a:xfrm>
              <a:off x="0" y="0"/>
              <a:ext cx="471476" cy="825702"/>
            </a:xfrm>
            <a:custGeom>
              <a:rect b="b" l="l" r="r" t="t"/>
              <a:pathLst>
                <a:path extrusionOk="0" h="825702" w="471476">
                  <a:moveTo>
                    <a:pt x="73521" y="0"/>
                  </a:moveTo>
                  <a:lnTo>
                    <a:pt x="397955" y="0"/>
                  </a:lnTo>
                  <a:cubicBezTo>
                    <a:pt x="417454" y="0"/>
                    <a:pt x="436155" y="7746"/>
                    <a:pt x="449943" y="21534"/>
                  </a:cubicBezTo>
                  <a:cubicBezTo>
                    <a:pt x="463730" y="35322"/>
                    <a:pt x="471476" y="54022"/>
                    <a:pt x="471476" y="73521"/>
                  </a:cubicBezTo>
                  <a:lnTo>
                    <a:pt x="471476" y="752181"/>
                  </a:lnTo>
                  <a:cubicBezTo>
                    <a:pt x="471476" y="771680"/>
                    <a:pt x="463730" y="790381"/>
                    <a:pt x="449943" y="804168"/>
                  </a:cubicBezTo>
                  <a:cubicBezTo>
                    <a:pt x="436155" y="817956"/>
                    <a:pt x="417454" y="825702"/>
                    <a:pt x="397955" y="825702"/>
                  </a:cubicBezTo>
                  <a:lnTo>
                    <a:pt x="73521" y="825702"/>
                  </a:lnTo>
                  <a:cubicBezTo>
                    <a:pt x="32916" y="825702"/>
                    <a:pt x="0" y="792786"/>
                    <a:pt x="0" y="752181"/>
                  </a:cubicBezTo>
                  <a:lnTo>
                    <a:pt x="0" y="73521"/>
                  </a:lnTo>
                  <a:cubicBezTo>
                    <a:pt x="0" y="54022"/>
                    <a:pt x="7746" y="35322"/>
                    <a:pt x="21534" y="21534"/>
                  </a:cubicBezTo>
                  <a:cubicBezTo>
                    <a:pt x="35322" y="7746"/>
                    <a:pt x="54022" y="0"/>
                    <a:pt x="7352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0">
              <a:solidFill>
                <a:srgbClr val="FF66C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4"/>
            <p:cNvSpPr txBox="1"/>
            <p:nvPr/>
          </p:nvSpPr>
          <p:spPr>
            <a:xfrm>
              <a:off x="0" y="-47625"/>
              <a:ext cx="471476" cy="873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3" name="Google Shape;503;p24"/>
          <p:cNvGrpSpPr/>
          <p:nvPr/>
        </p:nvGrpSpPr>
        <p:grpSpPr>
          <a:xfrm>
            <a:off x="8596816" y="2628931"/>
            <a:ext cx="3086100" cy="3375422"/>
            <a:chOff x="0" y="-76200"/>
            <a:chExt cx="812800" cy="889000"/>
          </a:xfrm>
        </p:grpSpPr>
        <p:sp>
          <p:nvSpPr>
            <p:cNvPr id="504" name="Google Shape;504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8128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812800" y="624840"/>
                  </a:lnTo>
                  <a:lnTo>
                    <a:pt x="812800" y="0"/>
                  </a:lnTo>
                  <a:close/>
                </a:path>
              </a:pathLst>
            </a:custGeom>
            <a:solidFill>
              <a:srgbClr val="3D415C"/>
            </a:solidFill>
            <a:ln>
              <a:noFill/>
            </a:ln>
          </p:spPr>
        </p:sp>
        <p:sp>
          <p:nvSpPr>
            <p:cNvPr id="505" name="Google Shape;505;p24"/>
            <p:cNvSpPr txBox="1"/>
            <p:nvPr/>
          </p:nvSpPr>
          <p:spPr>
            <a:xfrm>
              <a:off x="0" y="-76200"/>
              <a:ext cx="8128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딕셔너리로 정의한</a:t>
              </a:r>
              <a:endParaRPr/>
            </a:p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나라별 한국이름 데이터와</a:t>
              </a:r>
              <a:endParaRPr/>
            </a:p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개최년도를 연결하여</a:t>
              </a:r>
              <a:endParaRPr/>
            </a:p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새로운 컬럼 생성</a:t>
              </a:r>
              <a:endParaRPr/>
            </a:p>
          </p:txBody>
        </p:sp>
      </p:grpSp>
      <p:grpSp>
        <p:nvGrpSpPr>
          <p:cNvPr id="506" name="Google Shape;506;p24"/>
          <p:cNvGrpSpPr/>
          <p:nvPr/>
        </p:nvGrpSpPr>
        <p:grpSpPr>
          <a:xfrm>
            <a:off x="5235157" y="2945743"/>
            <a:ext cx="3179682" cy="2817998"/>
            <a:chOff x="0" y="-385763"/>
            <a:chExt cx="4239577" cy="3757332"/>
          </a:xfrm>
        </p:grpSpPr>
        <p:grpSp>
          <p:nvGrpSpPr>
            <p:cNvPr id="507" name="Google Shape;507;p24"/>
            <p:cNvGrpSpPr/>
            <p:nvPr/>
          </p:nvGrpSpPr>
          <p:grpSpPr>
            <a:xfrm rot="2233711">
              <a:off x="1348729" y="732256"/>
              <a:ext cx="2514213" cy="2091904"/>
              <a:chOff x="0" y="-66675"/>
              <a:chExt cx="812800" cy="676275"/>
            </a:xfrm>
          </p:grpSpPr>
          <p:sp>
            <p:nvSpPr>
              <p:cNvPr id="508" name="Google Shape;508;p24"/>
              <p:cNvSpPr/>
              <p:nvPr/>
            </p:nvSpPr>
            <p:spPr>
              <a:xfrm>
                <a:off x="0" y="0"/>
                <a:ext cx="812800" cy="609600"/>
              </a:xfrm>
              <a:custGeom>
                <a:rect b="b" l="l" r="r" t="t"/>
                <a:pathLst>
                  <a:path extrusionOk="0" h="609600" w="812800">
                    <a:moveTo>
                      <a:pt x="609600" y="0"/>
                    </a:moveTo>
                    <a:lnTo>
                      <a:pt x="0" y="0"/>
                    </a:lnTo>
                    <a:lnTo>
                      <a:pt x="203200" y="609600"/>
                    </a:lnTo>
                    <a:lnTo>
                      <a:pt x="812800" y="609600"/>
                    </a:lnTo>
                    <a:lnTo>
                      <a:pt x="609600" y="0"/>
                    </a:lnTo>
                    <a:close/>
                  </a:path>
                </a:pathLst>
              </a:custGeom>
              <a:solidFill>
                <a:srgbClr val="3D415C"/>
              </a:solidFill>
              <a:ln>
                <a:noFill/>
              </a:ln>
            </p:spPr>
          </p:sp>
          <p:sp>
            <p:nvSpPr>
              <p:cNvPr id="509" name="Google Shape;509;p24"/>
              <p:cNvSpPr txBox="1"/>
              <p:nvPr/>
            </p:nvSpPr>
            <p:spPr>
              <a:xfrm>
                <a:off x="101600" y="-66675"/>
                <a:ext cx="609600" cy="676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0" name="Google Shape;510;p24"/>
            <p:cNvGrpSpPr/>
            <p:nvPr/>
          </p:nvGrpSpPr>
          <p:grpSpPr>
            <a:xfrm>
              <a:off x="0" y="-385763"/>
              <a:ext cx="4114800" cy="2811401"/>
              <a:chOff x="0" y="-76200"/>
              <a:chExt cx="812800" cy="555338"/>
            </a:xfrm>
          </p:grpSpPr>
          <p:sp>
            <p:nvSpPr>
              <p:cNvPr id="511" name="Google Shape;511;p24"/>
              <p:cNvSpPr/>
              <p:nvPr/>
            </p:nvSpPr>
            <p:spPr>
              <a:xfrm>
                <a:off x="0" y="0"/>
                <a:ext cx="812800" cy="479138"/>
              </a:xfrm>
              <a:custGeom>
                <a:rect b="b" l="l" r="r" t="t"/>
                <a:pathLst>
                  <a:path extrusionOk="0" h="479138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479138"/>
                    </a:lnTo>
                    <a:lnTo>
                      <a:pt x="0" y="479138"/>
                    </a:lnTo>
                    <a:close/>
                  </a:path>
                </a:pathLst>
              </a:custGeom>
              <a:solidFill>
                <a:srgbClr val="3D415C"/>
              </a:solidFill>
              <a:ln>
                <a:noFill/>
              </a:ln>
            </p:spPr>
          </p:sp>
          <p:sp>
            <p:nvSpPr>
              <p:cNvPr id="512" name="Google Shape;512;p24"/>
              <p:cNvSpPr txBox="1"/>
              <p:nvPr/>
            </p:nvSpPr>
            <p:spPr>
              <a:xfrm>
                <a:off x="0" y="-76200"/>
                <a:ext cx="812800" cy="555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1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개최년도 기준</a:t>
                </a:r>
                <a:endParaRPr/>
              </a:p>
              <a:p>
                <a:pPr indent="0" lvl="0" marL="0" marR="0" rtl="0" algn="ctr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1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상대 년도를 계산하여</a:t>
                </a:r>
                <a:endParaRPr/>
              </a:p>
              <a:p>
                <a:pPr indent="0" lvl="0" marL="0" marR="0" rtl="0" algn="ctr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1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새로운 컬럼 생성</a:t>
                </a:r>
                <a:endParaRPr/>
              </a:p>
            </p:txBody>
          </p:sp>
        </p:grpSp>
      </p:grpSp>
      <p:sp>
        <p:nvSpPr>
          <p:cNvPr id="513" name="Google Shape;513;p24"/>
          <p:cNvSpPr txBox="1"/>
          <p:nvPr/>
        </p:nvSpPr>
        <p:spPr>
          <a:xfrm>
            <a:off x="1028700" y="497590"/>
            <a:ext cx="17259300" cy="1028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 올림픽 상대 연도 기준 GDP 성장률</a:t>
            </a:r>
            <a:endParaRPr/>
          </a:p>
        </p:txBody>
      </p:sp>
      <p:sp>
        <p:nvSpPr>
          <p:cNvPr id="514" name="Google Shape;514;p24"/>
          <p:cNvSpPr txBox="1"/>
          <p:nvPr/>
        </p:nvSpPr>
        <p:spPr>
          <a:xfrm>
            <a:off x="1028700" y="1555074"/>
            <a:ext cx="160026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5775" lvl="1" marL="9715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65A62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데이터 수집 및 전처리 - 동계</a:t>
            </a:r>
            <a:endParaRPr/>
          </a:p>
        </p:txBody>
      </p:sp>
      <p:grpSp>
        <p:nvGrpSpPr>
          <p:cNvPr id="515" name="Google Shape;515;p24"/>
          <p:cNvGrpSpPr/>
          <p:nvPr/>
        </p:nvGrpSpPr>
        <p:grpSpPr>
          <a:xfrm>
            <a:off x="10251491" y="5904286"/>
            <a:ext cx="1554405" cy="3315914"/>
            <a:chOff x="0" y="-47625"/>
            <a:chExt cx="409391" cy="873327"/>
          </a:xfrm>
        </p:grpSpPr>
        <p:sp>
          <p:nvSpPr>
            <p:cNvPr id="516" name="Google Shape;516;p24"/>
            <p:cNvSpPr/>
            <p:nvPr/>
          </p:nvSpPr>
          <p:spPr>
            <a:xfrm>
              <a:off x="0" y="0"/>
              <a:ext cx="409391" cy="825702"/>
            </a:xfrm>
            <a:custGeom>
              <a:rect b="b" l="l" r="r" t="t"/>
              <a:pathLst>
                <a:path extrusionOk="0" h="825702" w="409391">
                  <a:moveTo>
                    <a:pt x="84671" y="0"/>
                  </a:moveTo>
                  <a:lnTo>
                    <a:pt x="324720" y="0"/>
                  </a:lnTo>
                  <a:cubicBezTo>
                    <a:pt x="347176" y="0"/>
                    <a:pt x="368712" y="8921"/>
                    <a:pt x="384591" y="24799"/>
                  </a:cubicBezTo>
                  <a:cubicBezTo>
                    <a:pt x="400470" y="40678"/>
                    <a:pt x="409391" y="62215"/>
                    <a:pt x="409391" y="84671"/>
                  </a:cubicBezTo>
                  <a:lnTo>
                    <a:pt x="409391" y="741031"/>
                  </a:lnTo>
                  <a:cubicBezTo>
                    <a:pt x="409391" y="763488"/>
                    <a:pt x="400470" y="785024"/>
                    <a:pt x="384591" y="800903"/>
                  </a:cubicBezTo>
                  <a:cubicBezTo>
                    <a:pt x="368712" y="816782"/>
                    <a:pt x="347176" y="825702"/>
                    <a:pt x="324720" y="825702"/>
                  </a:cubicBezTo>
                  <a:lnTo>
                    <a:pt x="84671" y="825702"/>
                  </a:lnTo>
                  <a:cubicBezTo>
                    <a:pt x="62215" y="825702"/>
                    <a:pt x="40678" y="816782"/>
                    <a:pt x="24799" y="800903"/>
                  </a:cubicBezTo>
                  <a:cubicBezTo>
                    <a:pt x="8921" y="785024"/>
                    <a:pt x="0" y="763488"/>
                    <a:pt x="0" y="741031"/>
                  </a:cubicBezTo>
                  <a:lnTo>
                    <a:pt x="0" y="84671"/>
                  </a:lnTo>
                  <a:cubicBezTo>
                    <a:pt x="0" y="62215"/>
                    <a:pt x="8921" y="40678"/>
                    <a:pt x="24799" y="24799"/>
                  </a:cubicBezTo>
                  <a:cubicBezTo>
                    <a:pt x="40678" y="8921"/>
                    <a:pt x="62215" y="0"/>
                    <a:pt x="846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0">
              <a:solidFill>
                <a:srgbClr val="FF66C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4"/>
            <p:cNvSpPr txBox="1"/>
            <p:nvPr/>
          </p:nvSpPr>
          <p:spPr>
            <a:xfrm>
              <a:off x="0" y="-47625"/>
              <a:ext cx="409391" cy="873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8" name="Google Shape;518;p24"/>
          <p:cNvGrpSpPr/>
          <p:nvPr/>
        </p:nvGrpSpPr>
        <p:grpSpPr>
          <a:xfrm>
            <a:off x="11904858" y="5650795"/>
            <a:ext cx="5452692" cy="2869528"/>
            <a:chOff x="-160502" y="-718789"/>
            <a:chExt cx="7270255" cy="3826037"/>
          </a:xfrm>
        </p:grpSpPr>
        <p:grpSp>
          <p:nvGrpSpPr>
            <p:cNvPr id="519" name="Google Shape;519;p24"/>
            <p:cNvGrpSpPr/>
            <p:nvPr/>
          </p:nvGrpSpPr>
          <p:grpSpPr>
            <a:xfrm rot="-3203190">
              <a:off x="161584" y="510066"/>
              <a:ext cx="2437590" cy="2028150"/>
              <a:chOff x="0" y="-66675"/>
              <a:chExt cx="812800" cy="676275"/>
            </a:xfrm>
          </p:grpSpPr>
          <p:sp>
            <p:nvSpPr>
              <p:cNvPr id="520" name="Google Shape;520;p24"/>
              <p:cNvSpPr/>
              <p:nvPr/>
            </p:nvSpPr>
            <p:spPr>
              <a:xfrm>
                <a:off x="0" y="0"/>
                <a:ext cx="812800" cy="609600"/>
              </a:xfrm>
              <a:custGeom>
                <a:rect b="b" l="l" r="r" t="t"/>
                <a:pathLst>
                  <a:path extrusionOk="0" h="609600" w="812800">
                    <a:moveTo>
                      <a:pt x="609600" y="0"/>
                    </a:moveTo>
                    <a:lnTo>
                      <a:pt x="0" y="0"/>
                    </a:lnTo>
                    <a:lnTo>
                      <a:pt x="203200" y="609600"/>
                    </a:lnTo>
                    <a:lnTo>
                      <a:pt x="812800" y="609600"/>
                    </a:lnTo>
                    <a:lnTo>
                      <a:pt x="609600" y="0"/>
                    </a:lnTo>
                    <a:close/>
                  </a:path>
                </a:pathLst>
              </a:custGeom>
              <a:solidFill>
                <a:srgbClr val="3D415C"/>
              </a:solidFill>
              <a:ln>
                <a:noFill/>
              </a:ln>
            </p:spPr>
          </p:sp>
          <p:sp>
            <p:nvSpPr>
              <p:cNvPr id="521" name="Google Shape;521;p24"/>
              <p:cNvSpPr txBox="1"/>
              <p:nvPr/>
            </p:nvSpPr>
            <p:spPr>
              <a:xfrm>
                <a:off x="101600" y="-66675"/>
                <a:ext cx="609600" cy="676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2" name="Google Shape;522;p24"/>
            <p:cNvGrpSpPr/>
            <p:nvPr/>
          </p:nvGrpSpPr>
          <p:grpSpPr>
            <a:xfrm>
              <a:off x="1064270" y="-718789"/>
              <a:ext cx="6045483" cy="3684434"/>
              <a:chOff x="0" y="-76200"/>
              <a:chExt cx="640892" cy="390593"/>
            </a:xfrm>
          </p:grpSpPr>
          <p:sp>
            <p:nvSpPr>
              <p:cNvPr id="523" name="Google Shape;523;p24"/>
              <p:cNvSpPr/>
              <p:nvPr/>
            </p:nvSpPr>
            <p:spPr>
              <a:xfrm>
                <a:off x="0" y="0"/>
                <a:ext cx="640892" cy="314393"/>
              </a:xfrm>
              <a:custGeom>
                <a:rect b="b" l="l" r="r" t="t"/>
                <a:pathLst>
                  <a:path extrusionOk="0" h="314393" w="640892">
                    <a:moveTo>
                      <a:pt x="0" y="0"/>
                    </a:moveTo>
                    <a:lnTo>
                      <a:pt x="640892" y="0"/>
                    </a:lnTo>
                    <a:lnTo>
                      <a:pt x="640892" y="314393"/>
                    </a:lnTo>
                    <a:lnTo>
                      <a:pt x="0" y="314393"/>
                    </a:lnTo>
                    <a:close/>
                  </a:path>
                </a:pathLst>
              </a:custGeom>
              <a:solidFill>
                <a:srgbClr val="3D415C"/>
              </a:solidFill>
              <a:ln>
                <a:noFill/>
              </a:ln>
            </p:spPr>
          </p:sp>
          <p:sp>
            <p:nvSpPr>
              <p:cNvPr id="524" name="Google Shape;524;p24"/>
              <p:cNvSpPr txBox="1"/>
              <p:nvPr/>
            </p:nvSpPr>
            <p:spPr>
              <a:xfrm>
                <a:off x="0" y="-76200"/>
                <a:ext cx="640892" cy="3905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1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상대 연도 기준 GDP 성장률</a:t>
                </a:r>
                <a:endParaRPr/>
              </a:p>
              <a:p>
                <a:pPr indent="0" lvl="0" marL="0" marR="0" rtl="0" algn="ctr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1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1. 기준이 되는 GDP 값만 따로 뽑기</a:t>
                </a:r>
                <a:endParaRPr/>
              </a:p>
              <a:p>
                <a:pPr indent="0" lvl="0" marL="0" marR="0" rtl="0" algn="ctr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1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2. 모든 행에 기준 GDP 붙여주기</a:t>
                </a:r>
                <a:endParaRPr/>
              </a:p>
              <a:p>
                <a:pPr indent="0" lvl="0" marL="0" marR="0" rtl="0" algn="ctr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1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3.  개최 연도 대비 성장률 계산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0DF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9" name="Google Shape;529;p25"/>
          <p:cNvCxnSpPr/>
          <p:nvPr/>
        </p:nvCxnSpPr>
        <p:spPr>
          <a:xfrm rot="10800000">
            <a:off x="740032" y="430923"/>
            <a:ext cx="0" cy="9425155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0" name="Google Shape;530;p25"/>
          <p:cNvSpPr/>
          <p:nvPr/>
        </p:nvSpPr>
        <p:spPr>
          <a:xfrm>
            <a:off x="1303992" y="2771634"/>
            <a:ext cx="8915629" cy="6396964"/>
          </a:xfrm>
          <a:custGeom>
            <a:rect b="b" l="l" r="r" t="t"/>
            <a:pathLst>
              <a:path extrusionOk="0" h="6396964" w="8915629">
                <a:moveTo>
                  <a:pt x="0" y="0"/>
                </a:moveTo>
                <a:lnTo>
                  <a:pt x="8915629" y="0"/>
                </a:lnTo>
                <a:lnTo>
                  <a:pt x="8915629" y="6396964"/>
                </a:lnTo>
                <a:lnTo>
                  <a:pt x="0" y="6396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1" name="Google Shape;531;p25"/>
          <p:cNvSpPr txBox="1"/>
          <p:nvPr/>
        </p:nvSpPr>
        <p:spPr>
          <a:xfrm>
            <a:off x="1028700" y="497590"/>
            <a:ext cx="17259300" cy="1028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 올림픽 상대 연도 기준 GDP 성장률</a:t>
            </a:r>
            <a:endParaRPr/>
          </a:p>
        </p:txBody>
      </p:sp>
      <p:sp>
        <p:nvSpPr>
          <p:cNvPr id="532" name="Google Shape;532;p25"/>
          <p:cNvSpPr txBox="1"/>
          <p:nvPr/>
        </p:nvSpPr>
        <p:spPr>
          <a:xfrm>
            <a:off x="1028700" y="1555074"/>
            <a:ext cx="160026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5775" lvl="1" marL="9715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65A62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시각화 결과 - 동계</a:t>
            </a:r>
            <a:endParaRPr/>
          </a:p>
        </p:txBody>
      </p:sp>
      <p:sp>
        <p:nvSpPr>
          <p:cNvPr id="533" name="Google Shape;533;p25"/>
          <p:cNvSpPr/>
          <p:nvPr/>
        </p:nvSpPr>
        <p:spPr>
          <a:xfrm>
            <a:off x="10456062" y="5896771"/>
            <a:ext cx="2445804" cy="1595887"/>
          </a:xfrm>
          <a:custGeom>
            <a:rect b="b" l="l" r="r" t="t"/>
            <a:pathLst>
              <a:path extrusionOk="0" h="1595887" w="2445804">
                <a:moveTo>
                  <a:pt x="0" y="0"/>
                </a:moveTo>
                <a:lnTo>
                  <a:pt x="2445804" y="0"/>
                </a:lnTo>
                <a:lnTo>
                  <a:pt x="2445804" y="1595888"/>
                </a:lnTo>
                <a:lnTo>
                  <a:pt x="0" y="1595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4" name="Google Shape;534;p25"/>
          <p:cNvSpPr/>
          <p:nvPr/>
        </p:nvSpPr>
        <p:spPr>
          <a:xfrm>
            <a:off x="10456062" y="7492659"/>
            <a:ext cx="2445804" cy="1675939"/>
          </a:xfrm>
          <a:custGeom>
            <a:rect b="b" l="l" r="r" t="t"/>
            <a:pathLst>
              <a:path extrusionOk="0" h="1675939" w="2445804">
                <a:moveTo>
                  <a:pt x="0" y="0"/>
                </a:moveTo>
                <a:lnTo>
                  <a:pt x="2445804" y="0"/>
                </a:lnTo>
                <a:lnTo>
                  <a:pt x="2445804" y="1675939"/>
                </a:lnTo>
                <a:lnTo>
                  <a:pt x="0" y="16759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02599" r="-100018" t="-234548"/>
            </a:stretch>
          </a:blipFill>
          <a:ln>
            <a:noFill/>
          </a:ln>
        </p:spPr>
      </p:sp>
      <p:sp>
        <p:nvSpPr>
          <p:cNvPr id="535" name="Google Shape;535;p25"/>
          <p:cNvSpPr/>
          <p:nvPr/>
        </p:nvSpPr>
        <p:spPr>
          <a:xfrm>
            <a:off x="10458989" y="2771634"/>
            <a:ext cx="2445804" cy="1613611"/>
          </a:xfrm>
          <a:custGeom>
            <a:rect b="b" l="l" r="r" t="t"/>
            <a:pathLst>
              <a:path extrusionOk="0" h="1613611" w="2445804">
                <a:moveTo>
                  <a:pt x="0" y="0"/>
                </a:moveTo>
                <a:lnTo>
                  <a:pt x="2445804" y="0"/>
                </a:lnTo>
                <a:lnTo>
                  <a:pt x="2445804" y="1613611"/>
                </a:lnTo>
                <a:lnTo>
                  <a:pt x="0" y="16136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-1174"/>
            </a:stretch>
          </a:blipFill>
          <a:ln>
            <a:noFill/>
          </a:ln>
        </p:spPr>
      </p:sp>
      <p:grpSp>
        <p:nvGrpSpPr>
          <p:cNvPr id="536" name="Google Shape;536;p25"/>
          <p:cNvGrpSpPr/>
          <p:nvPr/>
        </p:nvGrpSpPr>
        <p:grpSpPr>
          <a:xfrm>
            <a:off x="2372515" y="7496824"/>
            <a:ext cx="6715158" cy="763171"/>
            <a:chOff x="0" y="-47625"/>
            <a:chExt cx="1931149" cy="219473"/>
          </a:xfrm>
        </p:grpSpPr>
        <p:sp>
          <p:nvSpPr>
            <p:cNvPr id="537" name="Google Shape;537;p25"/>
            <p:cNvSpPr/>
            <p:nvPr/>
          </p:nvSpPr>
          <p:spPr>
            <a:xfrm>
              <a:off x="0" y="0"/>
              <a:ext cx="1931149" cy="171848"/>
            </a:xfrm>
            <a:custGeom>
              <a:rect b="b" l="l" r="r" t="t"/>
              <a:pathLst>
                <a:path extrusionOk="0" h="171848" w="1931149">
                  <a:moveTo>
                    <a:pt x="19599" y="0"/>
                  </a:moveTo>
                  <a:lnTo>
                    <a:pt x="1911549" y="0"/>
                  </a:lnTo>
                  <a:cubicBezTo>
                    <a:pt x="1922374" y="0"/>
                    <a:pt x="1931149" y="8775"/>
                    <a:pt x="1931149" y="19599"/>
                  </a:cubicBezTo>
                  <a:lnTo>
                    <a:pt x="1931149" y="152249"/>
                  </a:lnTo>
                  <a:cubicBezTo>
                    <a:pt x="1931149" y="163073"/>
                    <a:pt x="1922374" y="171848"/>
                    <a:pt x="1911549" y="171848"/>
                  </a:cubicBezTo>
                  <a:lnTo>
                    <a:pt x="19599" y="171848"/>
                  </a:lnTo>
                  <a:cubicBezTo>
                    <a:pt x="8775" y="171848"/>
                    <a:pt x="0" y="163073"/>
                    <a:pt x="0" y="152249"/>
                  </a:cubicBezTo>
                  <a:lnTo>
                    <a:pt x="0" y="19599"/>
                  </a:lnTo>
                  <a:cubicBezTo>
                    <a:pt x="0" y="8775"/>
                    <a:pt x="8775" y="0"/>
                    <a:pt x="1959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0">
              <a:solidFill>
                <a:srgbClr val="FF66C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5"/>
            <p:cNvSpPr txBox="1"/>
            <p:nvPr/>
          </p:nvSpPr>
          <p:spPr>
            <a:xfrm>
              <a:off x="0" y="-47625"/>
              <a:ext cx="1931149" cy="2194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9" name="Google Shape;539;p25"/>
          <p:cNvSpPr txBox="1"/>
          <p:nvPr/>
        </p:nvSpPr>
        <p:spPr>
          <a:xfrm>
            <a:off x="1910698" y="2263449"/>
            <a:ext cx="500622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메달 획득률이 높은 나라 비교</a:t>
            </a:r>
            <a:endParaRPr/>
          </a:p>
        </p:txBody>
      </p:sp>
      <p:sp>
        <p:nvSpPr>
          <p:cNvPr id="540" name="Google Shape;540;p25"/>
          <p:cNvSpPr/>
          <p:nvPr/>
        </p:nvSpPr>
        <p:spPr>
          <a:xfrm>
            <a:off x="10456062" y="4300760"/>
            <a:ext cx="2448731" cy="1682461"/>
          </a:xfrm>
          <a:custGeom>
            <a:rect b="b" l="l" r="r" t="t"/>
            <a:pathLst>
              <a:path extrusionOk="0" h="1682461" w="2448731">
                <a:moveTo>
                  <a:pt x="0" y="0"/>
                </a:moveTo>
                <a:lnTo>
                  <a:pt x="2448731" y="0"/>
                </a:lnTo>
                <a:lnTo>
                  <a:pt x="2448731" y="1682461"/>
                </a:lnTo>
                <a:lnTo>
                  <a:pt x="0" y="16824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97747" l="-2357" r="-199894" t="-135497"/>
            </a:stretch>
          </a:blipFill>
          <a:ln>
            <a:noFill/>
          </a:ln>
        </p:spPr>
      </p:sp>
      <p:grpSp>
        <p:nvGrpSpPr>
          <p:cNvPr id="541" name="Google Shape;541;p25"/>
          <p:cNvGrpSpPr/>
          <p:nvPr/>
        </p:nvGrpSpPr>
        <p:grpSpPr>
          <a:xfrm>
            <a:off x="1345467" y="3438622"/>
            <a:ext cx="963403" cy="1146034"/>
            <a:chOff x="0" y="-76200"/>
            <a:chExt cx="138651" cy="164935"/>
          </a:xfrm>
        </p:grpSpPr>
        <p:sp>
          <p:nvSpPr>
            <p:cNvPr id="542" name="Google Shape;542;p25"/>
            <p:cNvSpPr/>
            <p:nvPr/>
          </p:nvSpPr>
          <p:spPr>
            <a:xfrm>
              <a:off x="0" y="0"/>
              <a:ext cx="138651" cy="88735"/>
            </a:xfrm>
            <a:custGeom>
              <a:rect b="b" l="l" r="r" t="t"/>
              <a:pathLst>
                <a:path extrusionOk="0" h="88735" w="138651">
                  <a:moveTo>
                    <a:pt x="0" y="0"/>
                  </a:moveTo>
                  <a:lnTo>
                    <a:pt x="138651" y="0"/>
                  </a:lnTo>
                  <a:lnTo>
                    <a:pt x="138651" y="88735"/>
                  </a:lnTo>
                  <a:lnTo>
                    <a:pt x="0" y="887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43" name="Google Shape;543;p25"/>
            <p:cNvSpPr txBox="1"/>
            <p:nvPr/>
          </p:nvSpPr>
          <p:spPr>
            <a:xfrm>
              <a:off x="0" y="-76200"/>
              <a:ext cx="138651" cy="164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4650" lIns="94650" spcFirstLastPara="1" rIns="94650" wrap="square" tIns="94650">
              <a:noAutofit/>
            </a:bodyPr>
            <a:lstStyle/>
            <a:p>
              <a:pPr indent="0" lvl="0" marL="0" marR="0" rtl="0" algn="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미국</a:t>
              </a:r>
              <a:endParaRPr/>
            </a:p>
          </p:txBody>
        </p:sp>
      </p:grpSp>
      <p:grpSp>
        <p:nvGrpSpPr>
          <p:cNvPr id="544" name="Google Shape;544;p25"/>
          <p:cNvGrpSpPr/>
          <p:nvPr/>
        </p:nvGrpSpPr>
        <p:grpSpPr>
          <a:xfrm>
            <a:off x="12904793" y="5451583"/>
            <a:ext cx="723354" cy="1265473"/>
            <a:chOff x="0" y="-76200"/>
            <a:chExt cx="103679" cy="181381"/>
          </a:xfrm>
        </p:grpSpPr>
        <p:sp>
          <p:nvSpPr>
            <p:cNvPr id="545" name="Google Shape;545;p25"/>
            <p:cNvSpPr/>
            <p:nvPr/>
          </p:nvSpPr>
          <p:spPr>
            <a:xfrm>
              <a:off x="0" y="0"/>
              <a:ext cx="103679" cy="105181"/>
            </a:xfrm>
            <a:custGeom>
              <a:rect b="b" l="l" r="r" t="t"/>
              <a:pathLst>
                <a:path extrusionOk="0" h="105181" w="103679">
                  <a:moveTo>
                    <a:pt x="0" y="0"/>
                  </a:moveTo>
                  <a:lnTo>
                    <a:pt x="103679" y="0"/>
                  </a:lnTo>
                  <a:lnTo>
                    <a:pt x="103679" y="105181"/>
                  </a:lnTo>
                  <a:lnTo>
                    <a:pt x="0" y="1051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46" name="Google Shape;546;p25"/>
            <p:cNvSpPr txBox="1"/>
            <p:nvPr/>
          </p:nvSpPr>
          <p:spPr>
            <a:xfrm>
              <a:off x="0" y="-76200"/>
              <a:ext cx="103679" cy="1813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4650" lIns="94650" spcFirstLastPara="1" rIns="94650" wrap="square" tIns="9465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미국</a:t>
              </a:r>
              <a:endParaRPr/>
            </a:p>
          </p:txBody>
        </p:sp>
      </p:grpSp>
      <p:grpSp>
        <p:nvGrpSpPr>
          <p:cNvPr id="547" name="Google Shape;547;p25"/>
          <p:cNvGrpSpPr/>
          <p:nvPr/>
        </p:nvGrpSpPr>
        <p:grpSpPr>
          <a:xfrm>
            <a:off x="1304000" y="4178453"/>
            <a:ext cx="963403" cy="1146018"/>
            <a:chOff x="0" y="-76200"/>
            <a:chExt cx="138651" cy="164935"/>
          </a:xfrm>
        </p:grpSpPr>
        <p:sp>
          <p:nvSpPr>
            <p:cNvPr id="548" name="Google Shape;548;p25"/>
            <p:cNvSpPr/>
            <p:nvPr/>
          </p:nvSpPr>
          <p:spPr>
            <a:xfrm>
              <a:off x="0" y="0"/>
              <a:ext cx="138651" cy="88735"/>
            </a:xfrm>
            <a:custGeom>
              <a:rect b="b" l="l" r="r" t="t"/>
              <a:pathLst>
                <a:path extrusionOk="0" h="88735" w="138651">
                  <a:moveTo>
                    <a:pt x="0" y="0"/>
                  </a:moveTo>
                  <a:lnTo>
                    <a:pt x="138651" y="0"/>
                  </a:lnTo>
                  <a:lnTo>
                    <a:pt x="138651" y="88735"/>
                  </a:lnTo>
                  <a:lnTo>
                    <a:pt x="0" y="887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49" name="Google Shape;549;p25"/>
            <p:cNvSpPr txBox="1"/>
            <p:nvPr/>
          </p:nvSpPr>
          <p:spPr>
            <a:xfrm>
              <a:off x="0" y="-76200"/>
              <a:ext cx="138651" cy="164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4650" lIns="94650" spcFirstLastPara="1" rIns="94650" wrap="square" tIns="94650">
              <a:noAutofit/>
            </a:bodyPr>
            <a:lstStyle/>
            <a:p>
              <a:pPr indent="0" lvl="0" marL="0" marR="0" rtl="0" algn="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일본</a:t>
              </a:r>
              <a:endParaRPr/>
            </a:p>
          </p:txBody>
        </p:sp>
      </p:grpSp>
      <p:grpSp>
        <p:nvGrpSpPr>
          <p:cNvPr id="550" name="Google Shape;550;p25"/>
          <p:cNvGrpSpPr/>
          <p:nvPr/>
        </p:nvGrpSpPr>
        <p:grpSpPr>
          <a:xfrm>
            <a:off x="12904793" y="3876517"/>
            <a:ext cx="723354" cy="1265473"/>
            <a:chOff x="0" y="-76200"/>
            <a:chExt cx="103679" cy="181381"/>
          </a:xfrm>
        </p:grpSpPr>
        <p:sp>
          <p:nvSpPr>
            <p:cNvPr id="551" name="Google Shape;551;p25"/>
            <p:cNvSpPr/>
            <p:nvPr/>
          </p:nvSpPr>
          <p:spPr>
            <a:xfrm>
              <a:off x="0" y="0"/>
              <a:ext cx="103679" cy="105181"/>
            </a:xfrm>
            <a:custGeom>
              <a:rect b="b" l="l" r="r" t="t"/>
              <a:pathLst>
                <a:path extrusionOk="0" h="105181" w="103679">
                  <a:moveTo>
                    <a:pt x="0" y="0"/>
                  </a:moveTo>
                  <a:lnTo>
                    <a:pt x="103679" y="0"/>
                  </a:lnTo>
                  <a:lnTo>
                    <a:pt x="103679" y="105181"/>
                  </a:lnTo>
                  <a:lnTo>
                    <a:pt x="0" y="1051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52" name="Google Shape;552;p25"/>
            <p:cNvSpPr txBox="1"/>
            <p:nvPr/>
          </p:nvSpPr>
          <p:spPr>
            <a:xfrm>
              <a:off x="0" y="-76200"/>
              <a:ext cx="103679" cy="1813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4650" lIns="94650" spcFirstLastPara="1" rIns="94650" wrap="square" tIns="9465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일본</a:t>
              </a:r>
              <a:endParaRPr/>
            </a:p>
          </p:txBody>
        </p:sp>
      </p:grpSp>
      <p:grpSp>
        <p:nvGrpSpPr>
          <p:cNvPr id="553" name="Google Shape;553;p25"/>
          <p:cNvGrpSpPr/>
          <p:nvPr/>
        </p:nvGrpSpPr>
        <p:grpSpPr>
          <a:xfrm>
            <a:off x="12904793" y="2312967"/>
            <a:ext cx="1106488" cy="1265473"/>
            <a:chOff x="0" y="-76200"/>
            <a:chExt cx="158594" cy="181381"/>
          </a:xfrm>
        </p:grpSpPr>
        <p:sp>
          <p:nvSpPr>
            <p:cNvPr id="554" name="Google Shape;554;p25"/>
            <p:cNvSpPr/>
            <p:nvPr/>
          </p:nvSpPr>
          <p:spPr>
            <a:xfrm>
              <a:off x="0" y="0"/>
              <a:ext cx="158594" cy="105181"/>
            </a:xfrm>
            <a:custGeom>
              <a:rect b="b" l="l" r="r" t="t"/>
              <a:pathLst>
                <a:path extrusionOk="0" h="105181" w="158594">
                  <a:moveTo>
                    <a:pt x="0" y="0"/>
                  </a:moveTo>
                  <a:lnTo>
                    <a:pt x="158594" y="0"/>
                  </a:lnTo>
                  <a:lnTo>
                    <a:pt x="158594" y="105181"/>
                  </a:lnTo>
                  <a:lnTo>
                    <a:pt x="0" y="1051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55" name="Google Shape;555;p25"/>
            <p:cNvSpPr txBox="1"/>
            <p:nvPr/>
          </p:nvSpPr>
          <p:spPr>
            <a:xfrm>
              <a:off x="0" y="-76200"/>
              <a:ext cx="158594" cy="1813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4650" lIns="94650" spcFirstLastPara="1" rIns="94650" wrap="square" tIns="9465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노르웨이</a:t>
              </a:r>
              <a:endParaRPr/>
            </a:p>
          </p:txBody>
        </p:sp>
      </p:grpSp>
      <p:grpSp>
        <p:nvGrpSpPr>
          <p:cNvPr id="556" name="Google Shape;556;p25"/>
          <p:cNvGrpSpPr/>
          <p:nvPr/>
        </p:nvGrpSpPr>
        <p:grpSpPr>
          <a:xfrm>
            <a:off x="1005294" y="3578450"/>
            <a:ext cx="1464941" cy="4164409"/>
            <a:chOff x="-33017" y="-75427"/>
            <a:chExt cx="210831" cy="599334"/>
          </a:xfrm>
        </p:grpSpPr>
        <p:sp>
          <p:nvSpPr>
            <p:cNvPr id="557" name="Google Shape;557;p25"/>
            <p:cNvSpPr/>
            <p:nvPr/>
          </p:nvSpPr>
          <p:spPr>
            <a:xfrm>
              <a:off x="-33017" y="418726"/>
              <a:ext cx="158594" cy="105181"/>
            </a:xfrm>
            <a:custGeom>
              <a:rect b="b" l="l" r="r" t="t"/>
              <a:pathLst>
                <a:path extrusionOk="0" h="105181" w="158594">
                  <a:moveTo>
                    <a:pt x="0" y="0"/>
                  </a:moveTo>
                  <a:lnTo>
                    <a:pt x="158594" y="0"/>
                  </a:lnTo>
                  <a:lnTo>
                    <a:pt x="158594" y="105181"/>
                  </a:lnTo>
                  <a:lnTo>
                    <a:pt x="0" y="1051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58" name="Google Shape;558;p25"/>
            <p:cNvSpPr txBox="1"/>
            <p:nvPr/>
          </p:nvSpPr>
          <p:spPr>
            <a:xfrm>
              <a:off x="-7285" y="-75427"/>
              <a:ext cx="185100" cy="18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4650" lIns="94650" spcFirstLastPara="1" rIns="94650" wrap="square" tIns="9465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노르</a:t>
              </a:r>
              <a:r>
                <a:rPr lang="en-US" sz="2000"/>
                <a:t>웨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이</a:t>
              </a:r>
              <a:endParaRPr/>
            </a:p>
          </p:txBody>
        </p:sp>
      </p:grpSp>
      <p:grpSp>
        <p:nvGrpSpPr>
          <p:cNvPr id="559" name="Google Shape;559;p25"/>
          <p:cNvGrpSpPr/>
          <p:nvPr/>
        </p:nvGrpSpPr>
        <p:grpSpPr>
          <a:xfrm>
            <a:off x="2267395" y="4046769"/>
            <a:ext cx="6930829" cy="1923346"/>
            <a:chOff x="0" y="-47625"/>
            <a:chExt cx="1993172" cy="553117"/>
          </a:xfrm>
        </p:grpSpPr>
        <p:sp>
          <p:nvSpPr>
            <p:cNvPr id="560" name="Google Shape;560;p25"/>
            <p:cNvSpPr/>
            <p:nvPr/>
          </p:nvSpPr>
          <p:spPr>
            <a:xfrm>
              <a:off x="0" y="0"/>
              <a:ext cx="1993172" cy="505492"/>
            </a:xfrm>
            <a:custGeom>
              <a:rect b="b" l="l" r="r" t="t"/>
              <a:pathLst>
                <a:path extrusionOk="0" h="505492" w="1993172">
                  <a:moveTo>
                    <a:pt x="18989" y="0"/>
                  </a:moveTo>
                  <a:lnTo>
                    <a:pt x="1974182" y="0"/>
                  </a:lnTo>
                  <a:cubicBezTo>
                    <a:pt x="1984670" y="0"/>
                    <a:pt x="1993172" y="8502"/>
                    <a:pt x="1993172" y="18989"/>
                  </a:cubicBezTo>
                  <a:lnTo>
                    <a:pt x="1993172" y="486502"/>
                  </a:lnTo>
                  <a:cubicBezTo>
                    <a:pt x="1993172" y="491539"/>
                    <a:pt x="1991171" y="496369"/>
                    <a:pt x="1987610" y="499930"/>
                  </a:cubicBezTo>
                  <a:cubicBezTo>
                    <a:pt x="1984048" y="503491"/>
                    <a:pt x="1979218" y="505492"/>
                    <a:pt x="1974182" y="505492"/>
                  </a:cubicBezTo>
                  <a:lnTo>
                    <a:pt x="18989" y="505492"/>
                  </a:lnTo>
                  <a:cubicBezTo>
                    <a:pt x="13953" y="505492"/>
                    <a:pt x="9123" y="503491"/>
                    <a:pt x="5562" y="499930"/>
                  </a:cubicBezTo>
                  <a:cubicBezTo>
                    <a:pt x="2001" y="496369"/>
                    <a:pt x="0" y="491539"/>
                    <a:pt x="0" y="486502"/>
                  </a:cubicBezTo>
                  <a:lnTo>
                    <a:pt x="0" y="18989"/>
                  </a:lnTo>
                  <a:cubicBezTo>
                    <a:pt x="0" y="13953"/>
                    <a:pt x="2001" y="9123"/>
                    <a:pt x="5562" y="5562"/>
                  </a:cubicBezTo>
                  <a:cubicBezTo>
                    <a:pt x="9123" y="2001"/>
                    <a:pt x="13953" y="0"/>
                    <a:pt x="189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0">
              <a:solidFill>
                <a:srgbClr val="FF66C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5"/>
            <p:cNvSpPr txBox="1"/>
            <p:nvPr/>
          </p:nvSpPr>
          <p:spPr>
            <a:xfrm>
              <a:off x="0" y="-47625"/>
              <a:ext cx="1993172" cy="553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2" name="Google Shape;562;p25"/>
          <p:cNvGrpSpPr/>
          <p:nvPr/>
        </p:nvGrpSpPr>
        <p:grpSpPr>
          <a:xfrm>
            <a:off x="12904793" y="7012027"/>
            <a:ext cx="1189779" cy="1265473"/>
            <a:chOff x="0" y="-76200"/>
            <a:chExt cx="170532" cy="181381"/>
          </a:xfrm>
        </p:grpSpPr>
        <p:sp>
          <p:nvSpPr>
            <p:cNvPr id="563" name="Google Shape;563;p25"/>
            <p:cNvSpPr/>
            <p:nvPr/>
          </p:nvSpPr>
          <p:spPr>
            <a:xfrm>
              <a:off x="0" y="0"/>
              <a:ext cx="170532" cy="105181"/>
            </a:xfrm>
            <a:custGeom>
              <a:rect b="b" l="l" r="r" t="t"/>
              <a:pathLst>
                <a:path extrusionOk="0" h="105181" w="170532">
                  <a:moveTo>
                    <a:pt x="0" y="0"/>
                  </a:moveTo>
                  <a:lnTo>
                    <a:pt x="170532" y="0"/>
                  </a:lnTo>
                  <a:lnTo>
                    <a:pt x="170532" y="105181"/>
                  </a:lnTo>
                  <a:lnTo>
                    <a:pt x="0" y="1051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64" name="Google Shape;564;p25"/>
            <p:cNvSpPr txBox="1"/>
            <p:nvPr/>
          </p:nvSpPr>
          <p:spPr>
            <a:xfrm>
              <a:off x="0" y="-76200"/>
              <a:ext cx="170532" cy="1813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4650" lIns="94650" spcFirstLastPara="1" rIns="94650" wrap="square" tIns="9465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대한민국</a:t>
              </a:r>
              <a:endParaRPr/>
            </a:p>
          </p:txBody>
        </p:sp>
      </p:grpSp>
      <p:grpSp>
        <p:nvGrpSpPr>
          <p:cNvPr id="565" name="Google Shape;565;p25"/>
          <p:cNvGrpSpPr/>
          <p:nvPr/>
        </p:nvGrpSpPr>
        <p:grpSpPr>
          <a:xfrm>
            <a:off x="14249406" y="2097770"/>
            <a:ext cx="3707960" cy="3107152"/>
            <a:chOff x="0" y="-95250"/>
            <a:chExt cx="524116" cy="439193"/>
          </a:xfrm>
        </p:grpSpPr>
        <p:sp>
          <p:nvSpPr>
            <p:cNvPr id="566" name="Google Shape;566;p25"/>
            <p:cNvSpPr/>
            <p:nvPr/>
          </p:nvSpPr>
          <p:spPr>
            <a:xfrm>
              <a:off x="0" y="0"/>
              <a:ext cx="524116" cy="343943"/>
            </a:xfrm>
            <a:custGeom>
              <a:rect b="b" l="l" r="r" t="t"/>
              <a:pathLst>
                <a:path extrusionOk="0" h="343943" w="524116">
                  <a:moveTo>
                    <a:pt x="0" y="0"/>
                  </a:moveTo>
                  <a:lnTo>
                    <a:pt x="524116" y="0"/>
                  </a:lnTo>
                  <a:lnTo>
                    <a:pt x="524116" y="343943"/>
                  </a:lnTo>
                  <a:lnTo>
                    <a:pt x="0" y="343943"/>
                  </a:lnTo>
                  <a:close/>
                </a:path>
              </a:pathLst>
            </a:custGeom>
            <a:solidFill>
              <a:srgbClr val="3D415C"/>
            </a:solidFill>
            <a:ln>
              <a:noFill/>
            </a:ln>
          </p:spPr>
        </p:sp>
        <p:sp>
          <p:nvSpPr>
            <p:cNvPr id="567" name="Google Shape;567;p25"/>
            <p:cNvSpPr txBox="1"/>
            <p:nvPr/>
          </p:nvSpPr>
          <p:spPr>
            <a:xfrm>
              <a:off x="0" y="-95250"/>
              <a:ext cx="524116" cy="4391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4650" lIns="94650" spcFirstLastPara="1" rIns="94650" wrap="square" tIns="9465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GDP성장률이 높다고 해서 메달 획득률이 높은 것은 아님</a:t>
              </a:r>
              <a:endParaRPr/>
            </a:p>
          </p:txBody>
        </p:sp>
      </p:grpSp>
      <p:grpSp>
        <p:nvGrpSpPr>
          <p:cNvPr id="568" name="Google Shape;568;p25"/>
          <p:cNvGrpSpPr/>
          <p:nvPr/>
        </p:nvGrpSpPr>
        <p:grpSpPr>
          <a:xfrm>
            <a:off x="1234707" y="7047635"/>
            <a:ext cx="1184923" cy="1260308"/>
            <a:chOff x="0" y="-76200"/>
            <a:chExt cx="170532" cy="181381"/>
          </a:xfrm>
        </p:grpSpPr>
        <p:sp>
          <p:nvSpPr>
            <p:cNvPr id="569" name="Google Shape;569;p25"/>
            <p:cNvSpPr/>
            <p:nvPr/>
          </p:nvSpPr>
          <p:spPr>
            <a:xfrm>
              <a:off x="0" y="0"/>
              <a:ext cx="170532" cy="105181"/>
            </a:xfrm>
            <a:custGeom>
              <a:rect b="b" l="l" r="r" t="t"/>
              <a:pathLst>
                <a:path extrusionOk="0" h="105181" w="170532">
                  <a:moveTo>
                    <a:pt x="0" y="0"/>
                  </a:moveTo>
                  <a:lnTo>
                    <a:pt x="170532" y="0"/>
                  </a:lnTo>
                  <a:lnTo>
                    <a:pt x="170532" y="105181"/>
                  </a:lnTo>
                  <a:lnTo>
                    <a:pt x="0" y="1051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70" name="Google Shape;570;p25"/>
            <p:cNvSpPr txBox="1"/>
            <p:nvPr/>
          </p:nvSpPr>
          <p:spPr>
            <a:xfrm>
              <a:off x="0" y="-76200"/>
              <a:ext cx="170532" cy="1813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4650" lIns="94650" spcFirstLastPara="1" rIns="94650" wrap="square" tIns="9465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대한민국</a:t>
              </a: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0DF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5" name="Google Shape;575;p26"/>
          <p:cNvCxnSpPr/>
          <p:nvPr/>
        </p:nvCxnSpPr>
        <p:spPr>
          <a:xfrm rot="10800000">
            <a:off x="740032" y="430923"/>
            <a:ext cx="0" cy="9425155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6" name="Google Shape;576;p26"/>
          <p:cNvSpPr/>
          <p:nvPr/>
        </p:nvSpPr>
        <p:spPr>
          <a:xfrm>
            <a:off x="3491037" y="3473106"/>
            <a:ext cx="8244346" cy="5915318"/>
          </a:xfrm>
          <a:custGeom>
            <a:rect b="b" l="l" r="r" t="t"/>
            <a:pathLst>
              <a:path extrusionOk="0" h="5915318" w="8244346">
                <a:moveTo>
                  <a:pt x="0" y="0"/>
                </a:moveTo>
                <a:lnTo>
                  <a:pt x="8244346" y="0"/>
                </a:lnTo>
                <a:lnTo>
                  <a:pt x="8244346" y="5915318"/>
                </a:lnTo>
                <a:lnTo>
                  <a:pt x="0" y="5915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7" name="Google Shape;577;p26"/>
          <p:cNvSpPr txBox="1"/>
          <p:nvPr/>
        </p:nvSpPr>
        <p:spPr>
          <a:xfrm>
            <a:off x="1028700" y="497590"/>
            <a:ext cx="17259300" cy="1028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 올림픽 상대 연도 기준 GDP 성장률</a:t>
            </a:r>
            <a:endParaRPr/>
          </a:p>
        </p:txBody>
      </p:sp>
      <p:sp>
        <p:nvSpPr>
          <p:cNvPr id="578" name="Google Shape;578;p26"/>
          <p:cNvSpPr txBox="1"/>
          <p:nvPr/>
        </p:nvSpPr>
        <p:spPr>
          <a:xfrm>
            <a:off x="1028700" y="1555074"/>
            <a:ext cx="160026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5775" lvl="1" marL="9715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65A62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시각화 결과 - 동계</a:t>
            </a:r>
            <a:endParaRPr/>
          </a:p>
        </p:txBody>
      </p:sp>
      <p:grpSp>
        <p:nvGrpSpPr>
          <p:cNvPr id="579" name="Google Shape;579;p26"/>
          <p:cNvGrpSpPr/>
          <p:nvPr/>
        </p:nvGrpSpPr>
        <p:grpSpPr>
          <a:xfrm>
            <a:off x="4381904" y="3632399"/>
            <a:ext cx="6408987" cy="3895344"/>
            <a:chOff x="0" y="-47625"/>
            <a:chExt cx="1993172" cy="1211438"/>
          </a:xfrm>
        </p:grpSpPr>
        <p:sp>
          <p:nvSpPr>
            <p:cNvPr id="580" name="Google Shape;580;p26"/>
            <p:cNvSpPr/>
            <p:nvPr/>
          </p:nvSpPr>
          <p:spPr>
            <a:xfrm>
              <a:off x="0" y="0"/>
              <a:ext cx="1993172" cy="1163813"/>
            </a:xfrm>
            <a:custGeom>
              <a:rect b="b" l="l" r="r" t="t"/>
              <a:pathLst>
                <a:path extrusionOk="0" h="1163813" w="1993172">
                  <a:moveTo>
                    <a:pt x="20536" y="0"/>
                  </a:moveTo>
                  <a:lnTo>
                    <a:pt x="1972636" y="0"/>
                  </a:lnTo>
                  <a:cubicBezTo>
                    <a:pt x="1983977" y="0"/>
                    <a:pt x="1993172" y="9194"/>
                    <a:pt x="1993172" y="20536"/>
                  </a:cubicBezTo>
                  <a:lnTo>
                    <a:pt x="1993172" y="1143277"/>
                  </a:lnTo>
                  <a:cubicBezTo>
                    <a:pt x="1993172" y="1154619"/>
                    <a:pt x="1983977" y="1163813"/>
                    <a:pt x="1972636" y="1163813"/>
                  </a:cubicBezTo>
                  <a:lnTo>
                    <a:pt x="20536" y="1163813"/>
                  </a:lnTo>
                  <a:cubicBezTo>
                    <a:pt x="15089" y="1163813"/>
                    <a:pt x="9866" y="1161649"/>
                    <a:pt x="6015" y="1157798"/>
                  </a:cubicBezTo>
                  <a:cubicBezTo>
                    <a:pt x="2164" y="1153947"/>
                    <a:pt x="0" y="1148723"/>
                    <a:pt x="0" y="1143277"/>
                  </a:cubicBezTo>
                  <a:lnTo>
                    <a:pt x="0" y="20536"/>
                  </a:lnTo>
                  <a:cubicBezTo>
                    <a:pt x="0" y="15089"/>
                    <a:pt x="2164" y="9866"/>
                    <a:pt x="6015" y="6015"/>
                  </a:cubicBezTo>
                  <a:cubicBezTo>
                    <a:pt x="9866" y="2164"/>
                    <a:pt x="15089" y="0"/>
                    <a:pt x="2053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0">
              <a:solidFill>
                <a:srgbClr val="FF66C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6"/>
            <p:cNvSpPr txBox="1"/>
            <p:nvPr/>
          </p:nvSpPr>
          <p:spPr>
            <a:xfrm>
              <a:off x="0" y="-47625"/>
              <a:ext cx="1993172" cy="1211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2" name="Google Shape;582;p26"/>
          <p:cNvGrpSpPr/>
          <p:nvPr/>
        </p:nvGrpSpPr>
        <p:grpSpPr>
          <a:xfrm>
            <a:off x="4381904" y="7280190"/>
            <a:ext cx="6408987" cy="1792500"/>
            <a:chOff x="0" y="-47625"/>
            <a:chExt cx="1993172" cy="557461"/>
          </a:xfrm>
        </p:grpSpPr>
        <p:sp>
          <p:nvSpPr>
            <p:cNvPr id="583" name="Google Shape;583;p26"/>
            <p:cNvSpPr/>
            <p:nvPr/>
          </p:nvSpPr>
          <p:spPr>
            <a:xfrm>
              <a:off x="0" y="0"/>
              <a:ext cx="1993172" cy="509836"/>
            </a:xfrm>
            <a:custGeom>
              <a:rect b="b" l="l" r="r" t="t"/>
              <a:pathLst>
                <a:path extrusionOk="0" h="509836" w="1993172">
                  <a:moveTo>
                    <a:pt x="20536" y="0"/>
                  </a:moveTo>
                  <a:lnTo>
                    <a:pt x="1972636" y="0"/>
                  </a:lnTo>
                  <a:cubicBezTo>
                    <a:pt x="1983977" y="0"/>
                    <a:pt x="1993172" y="9194"/>
                    <a:pt x="1993172" y="20536"/>
                  </a:cubicBezTo>
                  <a:lnTo>
                    <a:pt x="1993172" y="489300"/>
                  </a:lnTo>
                  <a:cubicBezTo>
                    <a:pt x="1993172" y="500642"/>
                    <a:pt x="1983977" y="509836"/>
                    <a:pt x="1972636" y="509836"/>
                  </a:cubicBezTo>
                  <a:lnTo>
                    <a:pt x="20536" y="509836"/>
                  </a:lnTo>
                  <a:cubicBezTo>
                    <a:pt x="15089" y="509836"/>
                    <a:pt x="9866" y="507672"/>
                    <a:pt x="6015" y="503821"/>
                  </a:cubicBezTo>
                  <a:cubicBezTo>
                    <a:pt x="2164" y="499970"/>
                    <a:pt x="0" y="494747"/>
                    <a:pt x="0" y="489300"/>
                  </a:cubicBezTo>
                  <a:lnTo>
                    <a:pt x="0" y="20536"/>
                  </a:lnTo>
                  <a:cubicBezTo>
                    <a:pt x="0" y="15089"/>
                    <a:pt x="2164" y="9866"/>
                    <a:pt x="6015" y="6015"/>
                  </a:cubicBezTo>
                  <a:cubicBezTo>
                    <a:pt x="9866" y="2164"/>
                    <a:pt x="15089" y="0"/>
                    <a:pt x="2053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6"/>
            <p:cNvSpPr txBox="1"/>
            <p:nvPr/>
          </p:nvSpPr>
          <p:spPr>
            <a:xfrm>
              <a:off x="0" y="-47625"/>
              <a:ext cx="1993172" cy="5574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5" name="Google Shape;585;p26"/>
          <p:cNvGrpSpPr/>
          <p:nvPr/>
        </p:nvGrpSpPr>
        <p:grpSpPr>
          <a:xfrm>
            <a:off x="13482211" y="4033331"/>
            <a:ext cx="3875339" cy="3174538"/>
            <a:chOff x="0" y="-104775"/>
            <a:chExt cx="547775" cy="448718"/>
          </a:xfrm>
        </p:grpSpPr>
        <p:sp>
          <p:nvSpPr>
            <p:cNvPr id="586" name="Google Shape;586;p26"/>
            <p:cNvSpPr/>
            <p:nvPr/>
          </p:nvSpPr>
          <p:spPr>
            <a:xfrm>
              <a:off x="0" y="0"/>
              <a:ext cx="547775" cy="343943"/>
            </a:xfrm>
            <a:custGeom>
              <a:rect b="b" l="l" r="r" t="t"/>
              <a:pathLst>
                <a:path extrusionOk="0" h="343943" w="547775">
                  <a:moveTo>
                    <a:pt x="0" y="0"/>
                  </a:moveTo>
                  <a:lnTo>
                    <a:pt x="547775" y="0"/>
                  </a:lnTo>
                  <a:lnTo>
                    <a:pt x="547775" y="343943"/>
                  </a:lnTo>
                  <a:lnTo>
                    <a:pt x="0" y="343943"/>
                  </a:lnTo>
                  <a:close/>
                </a:path>
              </a:pathLst>
            </a:custGeom>
            <a:solidFill>
              <a:srgbClr val="3D415C"/>
            </a:solidFill>
            <a:ln>
              <a:noFill/>
            </a:ln>
          </p:spPr>
        </p:sp>
        <p:sp>
          <p:nvSpPr>
            <p:cNvPr id="587" name="Google Shape;587;p26"/>
            <p:cNvSpPr txBox="1"/>
            <p:nvPr/>
          </p:nvSpPr>
          <p:spPr>
            <a:xfrm>
              <a:off x="0" y="-104775"/>
              <a:ext cx="547775" cy="4487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4650" lIns="94650" spcFirstLastPara="1" rIns="94650" wrap="square" tIns="9465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개최국 GDP 성장률에</a:t>
              </a:r>
              <a:endParaRPr/>
            </a:p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일관된 상승 패턴이</a:t>
              </a:r>
              <a:endParaRPr/>
            </a:p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존재하지 않음</a:t>
              </a:r>
              <a:endParaRPr/>
            </a:p>
          </p:txBody>
        </p:sp>
      </p:grpSp>
      <p:grpSp>
        <p:nvGrpSpPr>
          <p:cNvPr id="588" name="Google Shape;588;p26"/>
          <p:cNvGrpSpPr/>
          <p:nvPr/>
        </p:nvGrpSpPr>
        <p:grpSpPr>
          <a:xfrm>
            <a:off x="12225963" y="5541717"/>
            <a:ext cx="899017" cy="899017"/>
            <a:chOff x="0" y="0"/>
            <a:chExt cx="812800" cy="812800"/>
          </a:xfrm>
        </p:grpSpPr>
        <p:sp>
          <p:nvSpPr>
            <p:cNvPr id="589" name="Google Shape;589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590" name="Google Shape;590;p26"/>
            <p:cNvSpPr txBox="1"/>
            <p:nvPr/>
          </p:nvSpPr>
          <p:spPr>
            <a:xfrm>
              <a:off x="0" y="136525"/>
              <a:ext cx="711200" cy="473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1" name="Google Shape;591;p26"/>
          <p:cNvSpPr txBox="1"/>
          <p:nvPr/>
        </p:nvSpPr>
        <p:spPr>
          <a:xfrm>
            <a:off x="12046423" y="8494506"/>
            <a:ext cx="8469857" cy="624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4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성장률 하락</a:t>
            </a:r>
            <a:endParaRPr/>
          </a:p>
        </p:txBody>
      </p:sp>
      <p:sp>
        <p:nvSpPr>
          <p:cNvPr id="592" name="Google Shape;592;p26"/>
          <p:cNvSpPr txBox="1"/>
          <p:nvPr/>
        </p:nvSpPr>
        <p:spPr>
          <a:xfrm>
            <a:off x="12046423" y="3368331"/>
            <a:ext cx="8469857" cy="624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4" u="none" cap="none" strike="noStrike">
                <a:solidFill>
                  <a:srgbClr val="FF66C4"/>
                </a:solidFill>
                <a:latin typeface="Arial"/>
                <a:ea typeface="Arial"/>
                <a:cs typeface="Arial"/>
                <a:sym typeface="Arial"/>
              </a:rPr>
              <a:t>성장률 증가</a:t>
            </a:r>
            <a:endParaRPr/>
          </a:p>
        </p:txBody>
      </p:sp>
      <p:sp>
        <p:nvSpPr>
          <p:cNvPr id="593" name="Google Shape;593;p26"/>
          <p:cNvSpPr txBox="1"/>
          <p:nvPr/>
        </p:nvSpPr>
        <p:spPr>
          <a:xfrm>
            <a:off x="1910698" y="2263449"/>
            <a:ext cx="500622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성장률 변화 패턴 분석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0DF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8" name="Google Shape;598;p27"/>
          <p:cNvCxnSpPr/>
          <p:nvPr/>
        </p:nvCxnSpPr>
        <p:spPr>
          <a:xfrm rot="10800000">
            <a:off x="740032" y="430923"/>
            <a:ext cx="0" cy="9425155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9" name="Google Shape;599;p27"/>
          <p:cNvSpPr/>
          <p:nvPr/>
        </p:nvSpPr>
        <p:spPr>
          <a:xfrm>
            <a:off x="3106816" y="3069783"/>
            <a:ext cx="8950370" cy="6421890"/>
          </a:xfrm>
          <a:custGeom>
            <a:rect b="b" l="l" r="r" t="t"/>
            <a:pathLst>
              <a:path extrusionOk="0" h="6421890" w="8950370">
                <a:moveTo>
                  <a:pt x="0" y="0"/>
                </a:moveTo>
                <a:lnTo>
                  <a:pt x="8950370" y="0"/>
                </a:lnTo>
                <a:lnTo>
                  <a:pt x="8950370" y="6421891"/>
                </a:lnTo>
                <a:lnTo>
                  <a:pt x="0" y="6421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0" name="Google Shape;600;p27"/>
          <p:cNvSpPr txBox="1"/>
          <p:nvPr/>
        </p:nvSpPr>
        <p:spPr>
          <a:xfrm>
            <a:off x="1028700" y="497590"/>
            <a:ext cx="17259300" cy="1028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 올림픽 상대 연도 기준 GDP 성장률</a:t>
            </a:r>
            <a:endParaRPr/>
          </a:p>
        </p:txBody>
      </p:sp>
      <p:sp>
        <p:nvSpPr>
          <p:cNvPr id="601" name="Google Shape;601;p27"/>
          <p:cNvSpPr txBox="1"/>
          <p:nvPr/>
        </p:nvSpPr>
        <p:spPr>
          <a:xfrm>
            <a:off x="1028700" y="1555074"/>
            <a:ext cx="160026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5775" lvl="1" marL="9715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65A62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시각화 결과 - 동계</a:t>
            </a:r>
            <a:endParaRPr/>
          </a:p>
        </p:txBody>
      </p:sp>
      <p:grpSp>
        <p:nvGrpSpPr>
          <p:cNvPr id="602" name="Google Shape;602;p27"/>
          <p:cNvGrpSpPr/>
          <p:nvPr/>
        </p:nvGrpSpPr>
        <p:grpSpPr>
          <a:xfrm>
            <a:off x="6527732" y="4345356"/>
            <a:ext cx="2019260" cy="3095233"/>
            <a:chOff x="0" y="-47625"/>
            <a:chExt cx="578446" cy="886674"/>
          </a:xfrm>
        </p:grpSpPr>
        <p:sp>
          <p:nvSpPr>
            <p:cNvPr id="603" name="Google Shape;603;p27"/>
            <p:cNvSpPr/>
            <p:nvPr/>
          </p:nvSpPr>
          <p:spPr>
            <a:xfrm>
              <a:off x="0" y="0"/>
              <a:ext cx="578446" cy="839049"/>
            </a:xfrm>
            <a:custGeom>
              <a:rect b="b" l="l" r="r" t="t"/>
              <a:pathLst>
                <a:path extrusionOk="0" h="839049" w="578446">
                  <a:moveTo>
                    <a:pt x="65179" y="0"/>
                  </a:moveTo>
                  <a:lnTo>
                    <a:pt x="513267" y="0"/>
                  </a:lnTo>
                  <a:cubicBezTo>
                    <a:pt x="549264" y="0"/>
                    <a:pt x="578446" y="29181"/>
                    <a:pt x="578446" y="65179"/>
                  </a:cubicBezTo>
                  <a:lnTo>
                    <a:pt x="578446" y="773870"/>
                  </a:lnTo>
                  <a:cubicBezTo>
                    <a:pt x="578446" y="791157"/>
                    <a:pt x="571579" y="807735"/>
                    <a:pt x="559355" y="819958"/>
                  </a:cubicBezTo>
                  <a:cubicBezTo>
                    <a:pt x="547132" y="832182"/>
                    <a:pt x="530554" y="839049"/>
                    <a:pt x="513267" y="839049"/>
                  </a:cubicBezTo>
                  <a:lnTo>
                    <a:pt x="65179" y="839049"/>
                  </a:lnTo>
                  <a:cubicBezTo>
                    <a:pt x="29181" y="839049"/>
                    <a:pt x="0" y="809867"/>
                    <a:pt x="0" y="773870"/>
                  </a:cubicBezTo>
                  <a:lnTo>
                    <a:pt x="0" y="65179"/>
                  </a:lnTo>
                  <a:cubicBezTo>
                    <a:pt x="0" y="29181"/>
                    <a:pt x="29181" y="0"/>
                    <a:pt x="6517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0">
              <a:solidFill>
                <a:srgbClr val="FF66C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7"/>
            <p:cNvSpPr txBox="1"/>
            <p:nvPr/>
          </p:nvSpPr>
          <p:spPr>
            <a:xfrm>
              <a:off x="0" y="-47625"/>
              <a:ext cx="578446" cy="8866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5" name="Google Shape;605;p27"/>
          <p:cNvGrpSpPr/>
          <p:nvPr/>
        </p:nvGrpSpPr>
        <p:grpSpPr>
          <a:xfrm>
            <a:off x="12691936" y="6115566"/>
            <a:ext cx="4665621" cy="3170302"/>
            <a:chOff x="0" y="-104775"/>
            <a:chExt cx="717296" cy="487405"/>
          </a:xfrm>
        </p:grpSpPr>
        <p:sp>
          <p:nvSpPr>
            <p:cNvPr id="606" name="Google Shape;606;p27"/>
            <p:cNvSpPr/>
            <p:nvPr/>
          </p:nvSpPr>
          <p:spPr>
            <a:xfrm>
              <a:off x="0" y="0"/>
              <a:ext cx="717296" cy="382630"/>
            </a:xfrm>
            <a:custGeom>
              <a:rect b="b" l="l" r="r" t="t"/>
              <a:pathLst>
                <a:path extrusionOk="0" h="382630" w="717296">
                  <a:moveTo>
                    <a:pt x="0" y="0"/>
                  </a:moveTo>
                  <a:lnTo>
                    <a:pt x="717296" y="0"/>
                  </a:lnTo>
                  <a:lnTo>
                    <a:pt x="717296" y="382630"/>
                  </a:lnTo>
                  <a:lnTo>
                    <a:pt x="0" y="382630"/>
                  </a:lnTo>
                  <a:close/>
                </a:path>
              </a:pathLst>
            </a:custGeom>
            <a:solidFill>
              <a:srgbClr val="3D415C"/>
            </a:solidFill>
            <a:ln>
              <a:noFill/>
            </a:ln>
          </p:spPr>
        </p:sp>
        <p:sp>
          <p:nvSpPr>
            <p:cNvPr id="607" name="Google Shape;607;p27"/>
            <p:cNvSpPr txBox="1"/>
            <p:nvPr/>
          </p:nvSpPr>
          <p:spPr>
            <a:xfrm>
              <a:off x="0" y="-104775"/>
              <a:ext cx="717295" cy="487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4650" lIns="94650" spcFirstLastPara="1" rIns="94650" wrap="square" tIns="9465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‘올림픽 개최 = 경제 성장’</a:t>
              </a:r>
              <a:endParaRPr/>
            </a:p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이라는 단순한 인과관계는</a:t>
              </a:r>
              <a:endParaRPr/>
            </a:p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데이터 상에서 명확하게</a:t>
              </a:r>
              <a:endParaRPr/>
            </a:p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확인되지 않음</a:t>
              </a:r>
              <a:endParaRPr/>
            </a:p>
          </p:txBody>
        </p:sp>
      </p:grpSp>
      <p:grpSp>
        <p:nvGrpSpPr>
          <p:cNvPr id="608" name="Google Shape;608;p27"/>
          <p:cNvGrpSpPr/>
          <p:nvPr/>
        </p:nvGrpSpPr>
        <p:grpSpPr>
          <a:xfrm>
            <a:off x="12691936" y="2519637"/>
            <a:ext cx="4665621" cy="2935515"/>
            <a:chOff x="0" y="-104775"/>
            <a:chExt cx="717296" cy="451308"/>
          </a:xfrm>
        </p:grpSpPr>
        <p:sp>
          <p:nvSpPr>
            <p:cNvPr id="609" name="Google Shape;609;p27"/>
            <p:cNvSpPr/>
            <p:nvPr/>
          </p:nvSpPr>
          <p:spPr>
            <a:xfrm>
              <a:off x="0" y="0"/>
              <a:ext cx="717296" cy="346533"/>
            </a:xfrm>
            <a:custGeom>
              <a:rect b="b" l="l" r="r" t="t"/>
              <a:pathLst>
                <a:path extrusionOk="0" h="346533" w="717296">
                  <a:moveTo>
                    <a:pt x="0" y="0"/>
                  </a:moveTo>
                  <a:lnTo>
                    <a:pt x="717296" y="0"/>
                  </a:lnTo>
                  <a:lnTo>
                    <a:pt x="717296" y="346533"/>
                  </a:lnTo>
                  <a:lnTo>
                    <a:pt x="0" y="346533"/>
                  </a:lnTo>
                  <a:close/>
                </a:path>
              </a:pathLst>
            </a:custGeom>
            <a:solidFill>
              <a:srgbClr val="3D415C"/>
            </a:solidFill>
            <a:ln>
              <a:noFill/>
            </a:ln>
          </p:spPr>
        </p:sp>
        <p:sp>
          <p:nvSpPr>
            <p:cNvPr id="610" name="Google Shape;610;p27"/>
            <p:cNvSpPr txBox="1"/>
            <p:nvPr/>
          </p:nvSpPr>
          <p:spPr>
            <a:xfrm>
              <a:off x="0" y="-104775"/>
              <a:ext cx="717295" cy="4513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4650" lIns="94650" spcFirstLastPara="1" rIns="94650" wrap="square" tIns="9465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개최 1년~2년 이후,</a:t>
              </a:r>
              <a:endParaRPr/>
            </a:p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큰 변동률이 있으나, 장기적으로 상승한다고 말할 수 없음</a:t>
              </a:r>
              <a:endParaRPr/>
            </a:p>
          </p:txBody>
        </p:sp>
      </p:grpSp>
      <p:sp>
        <p:nvSpPr>
          <p:cNvPr id="611" name="Google Shape;611;p27"/>
          <p:cNvSpPr txBox="1"/>
          <p:nvPr/>
        </p:nvSpPr>
        <p:spPr>
          <a:xfrm>
            <a:off x="1910698" y="2263449"/>
            <a:ext cx="500622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565A62"/>
                </a:solidFill>
                <a:latin typeface="Arial"/>
                <a:ea typeface="Arial"/>
                <a:cs typeface="Arial"/>
                <a:sym typeface="Arial"/>
              </a:rPr>
              <a:t>성장 변동률 분석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0DF"/>
        </a:solid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6" name="Google Shape;616;p28"/>
          <p:cNvCxnSpPr/>
          <p:nvPr/>
        </p:nvCxnSpPr>
        <p:spPr>
          <a:xfrm rot="10800000">
            <a:off x="740032" y="430923"/>
            <a:ext cx="0" cy="9425155"/>
          </a:xfrm>
          <a:prstGeom prst="straightConnector1">
            <a:avLst/>
          </a:prstGeom>
          <a:noFill/>
          <a:ln cap="flat" cmpd="sng" w="9525">
            <a:solidFill>
              <a:srgbClr val="565A6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17" name="Google Shape;617;p28"/>
          <p:cNvGrpSpPr/>
          <p:nvPr/>
        </p:nvGrpSpPr>
        <p:grpSpPr>
          <a:xfrm>
            <a:off x="1823426" y="2712187"/>
            <a:ext cx="4840491" cy="6546113"/>
            <a:chOff x="0" y="-38100"/>
            <a:chExt cx="1274862" cy="1724079"/>
          </a:xfrm>
        </p:grpSpPr>
        <p:sp>
          <p:nvSpPr>
            <p:cNvPr id="618" name="Google Shape;618;p28"/>
            <p:cNvSpPr/>
            <p:nvPr/>
          </p:nvSpPr>
          <p:spPr>
            <a:xfrm>
              <a:off x="0" y="0"/>
              <a:ext cx="1274862" cy="1685979"/>
            </a:xfrm>
            <a:custGeom>
              <a:rect b="b" l="l" r="r" t="t"/>
              <a:pathLst>
                <a:path extrusionOk="0" h="1685979" w="1274862">
                  <a:moveTo>
                    <a:pt x="0" y="0"/>
                  </a:moveTo>
                  <a:lnTo>
                    <a:pt x="1274862" y="0"/>
                  </a:lnTo>
                  <a:lnTo>
                    <a:pt x="1274862" y="1685979"/>
                  </a:lnTo>
                  <a:lnTo>
                    <a:pt x="0" y="1685979"/>
                  </a:lnTo>
                  <a:close/>
                </a:path>
              </a:pathLst>
            </a:custGeom>
            <a:solidFill>
              <a:srgbClr val="F1EFEF"/>
            </a:solidFill>
            <a:ln cap="sq" cmpd="sng" w="9525">
              <a:solidFill>
                <a:srgbClr val="6E727B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19" name="Google Shape;619;p28"/>
            <p:cNvSpPr txBox="1"/>
            <p:nvPr/>
          </p:nvSpPr>
          <p:spPr>
            <a:xfrm>
              <a:off x="0" y="-38100"/>
              <a:ext cx="1274862" cy="1724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0" name="Google Shape;620;p28"/>
          <p:cNvGrpSpPr/>
          <p:nvPr/>
        </p:nvGrpSpPr>
        <p:grpSpPr>
          <a:xfrm>
            <a:off x="7121117" y="2712187"/>
            <a:ext cx="4840491" cy="6546113"/>
            <a:chOff x="0" y="-38100"/>
            <a:chExt cx="1274862" cy="1724079"/>
          </a:xfrm>
        </p:grpSpPr>
        <p:sp>
          <p:nvSpPr>
            <p:cNvPr id="621" name="Google Shape;621;p28"/>
            <p:cNvSpPr/>
            <p:nvPr/>
          </p:nvSpPr>
          <p:spPr>
            <a:xfrm>
              <a:off x="0" y="0"/>
              <a:ext cx="1274862" cy="1685979"/>
            </a:xfrm>
            <a:custGeom>
              <a:rect b="b" l="l" r="r" t="t"/>
              <a:pathLst>
                <a:path extrusionOk="0" h="1685979" w="1274862">
                  <a:moveTo>
                    <a:pt x="0" y="0"/>
                  </a:moveTo>
                  <a:lnTo>
                    <a:pt x="1274862" y="0"/>
                  </a:lnTo>
                  <a:lnTo>
                    <a:pt x="1274862" y="1685979"/>
                  </a:lnTo>
                  <a:lnTo>
                    <a:pt x="0" y="1685979"/>
                  </a:lnTo>
                  <a:close/>
                </a:path>
              </a:pathLst>
            </a:custGeom>
            <a:solidFill>
              <a:srgbClr val="F1EFEF"/>
            </a:solidFill>
            <a:ln cap="sq" cmpd="sng" w="9525">
              <a:solidFill>
                <a:srgbClr val="6E727B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22" name="Google Shape;622;p28"/>
            <p:cNvSpPr txBox="1"/>
            <p:nvPr/>
          </p:nvSpPr>
          <p:spPr>
            <a:xfrm>
              <a:off x="0" y="-38100"/>
              <a:ext cx="1274862" cy="1724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3" name="Google Shape;623;p28"/>
          <p:cNvGrpSpPr/>
          <p:nvPr/>
        </p:nvGrpSpPr>
        <p:grpSpPr>
          <a:xfrm>
            <a:off x="1823426" y="2748352"/>
            <a:ext cx="4838881" cy="1220992"/>
            <a:chOff x="0" y="-28575"/>
            <a:chExt cx="1274438" cy="321578"/>
          </a:xfrm>
        </p:grpSpPr>
        <p:sp>
          <p:nvSpPr>
            <p:cNvPr id="624" name="Google Shape;624;p28"/>
            <p:cNvSpPr/>
            <p:nvPr/>
          </p:nvSpPr>
          <p:spPr>
            <a:xfrm>
              <a:off x="0" y="0"/>
              <a:ext cx="1274438" cy="293003"/>
            </a:xfrm>
            <a:custGeom>
              <a:rect b="b" l="l" r="r" t="t"/>
              <a:pathLst>
                <a:path extrusionOk="0" h="293003" w="1274438">
                  <a:moveTo>
                    <a:pt x="0" y="0"/>
                  </a:moveTo>
                  <a:lnTo>
                    <a:pt x="1274438" y="0"/>
                  </a:lnTo>
                  <a:lnTo>
                    <a:pt x="1274438" y="293003"/>
                  </a:lnTo>
                  <a:lnTo>
                    <a:pt x="0" y="293003"/>
                  </a:lnTo>
                  <a:close/>
                </a:path>
              </a:pathLst>
            </a:custGeom>
            <a:solidFill>
              <a:srgbClr val="6E727B"/>
            </a:solidFill>
            <a:ln>
              <a:noFill/>
            </a:ln>
          </p:spPr>
        </p:sp>
        <p:sp>
          <p:nvSpPr>
            <p:cNvPr id="625" name="Google Shape;625;p28"/>
            <p:cNvSpPr txBox="1"/>
            <p:nvPr/>
          </p:nvSpPr>
          <p:spPr>
            <a:xfrm>
              <a:off x="0" y="-28575"/>
              <a:ext cx="1274438" cy="321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6" name="Google Shape;626;p28"/>
          <p:cNvGrpSpPr/>
          <p:nvPr/>
        </p:nvGrpSpPr>
        <p:grpSpPr>
          <a:xfrm>
            <a:off x="7121117" y="2687604"/>
            <a:ext cx="4840491" cy="1220992"/>
            <a:chOff x="0" y="-28575"/>
            <a:chExt cx="1274862" cy="321578"/>
          </a:xfrm>
        </p:grpSpPr>
        <p:sp>
          <p:nvSpPr>
            <p:cNvPr id="627" name="Google Shape;627;p28"/>
            <p:cNvSpPr/>
            <p:nvPr/>
          </p:nvSpPr>
          <p:spPr>
            <a:xfrm>
              <a:off x="0" y="0"/>
              <a:ext cx="1274862" cy="293003"/>
            </a:xfrm>
            <a:custGeom>
              <a:rect b="b" l="l" r="r" t="t"/>
              <a:pathLst>
                <a:path extrusionOk="0" h="293003" w="1274862">
                  <a:moveTo>
                    <a:pt x="0" y="0"/>
                  </a:moveTo>
                  <a:lnTo>
                    <a:pt x="1274862" y="0"/>
                  </a:lnTo>
                  <a:lnTo>
                    <a:pt x="1274862" y="293003"/>
                  </a:lnTo>
                  <a:lnTo>
                    <a:pt x="0" y="293003"/>
                  </a:lnTo>
                  <a:close/>
                </a:path>
              </a:pathLst>
            </a:custGeom>
            <a:solidFill>
              <a:srgbClr val="6E727B"/>
            </a:solidFill>
            <a:ln>
              <a:noFill/>
            </a:ln>
          </p:spPr>
        </p:sp>
        <p:sp>
          <p:nvSpPr>
            <p:cNvPr id="628" name="Google Shape;628;p28"/>
            <p:cNvSpPr txBox="1"/>
            <p:nvPr/>
          </p:nvSpPr>
          <p:spPr>
            <a:xfrm>
              <a:off x="0" y="-28575"/>
              <a:ext cx="1274862" cy="321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9" name="Google Shape;629;p28"/>
          <p:cNvSpPr txBox="1"/>
          <p:nvPr/>
        </p:nvSpPr>
        <p:spPr>
          <a:xfrm>
            <a:off x="2069611" y="2951052"/>
            <a:ext cx="4594307" cy="957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메달 점유율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데이터 분석</a:t>
            </a:r>
            <a:endParaRPr/>
          </a:p>
        </p:txBody>
      </p:sp>
      <p:sp>
        <p:nvSpPr>
          <p:cNvPr id="630" name="Google Shape;630;p28"/>
          <p:cNvSpPr txBox="1"/>
          <p:nvPr/>
        </p:nvSpPr>
        <p:spPr>
          <a:xfrm>
            <a:off x="7639864" y="3116445"/>
            <a:ext cx="3802999" cy="490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GDP 성장률 분석</a:t>
            </a:r>
            <a:endParaRPr/>
          </a:p>
        </p:txBody>
      </p:sp>
      <p:sp>
        <p:nvSpPr>
          <p:cNvPr id="631" name="Google Shape;631;p28"/>
          <p:cNvSpPr txBox="1"/>
          <p:nvPr/>
        </p:nvSpPr>
        <p:spPr>
          <a:xfrm>
            <a:off x="1269976" y="497589"/>
            <a:ext cx="7874024" cy="1149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04 결론</a:t>
            </a:r>
            <a:endParaRPr/>
          </a:p>
        </p:txBody>
      </p:sp>
      <p:sp>
        <p:nvSpPr>
          <p:cNvPr id="632" name="Google Shape;632;p28"/>
          <p:cNvSpPr txBox="1"/>
          <p:nvPr/>
        </p:nvSpPr>
        <p:spPr>
          <a:xfrm>
            <a:off x="1939643" y="4267200"/>
            <a:ext cx="4609668" cy="398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전체 경향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개최국 효과가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비교적 명확하게 나타남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6E727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아시아권은 판정 종목,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영미권은 기록 종목 중심으로 매달 점유율이 급상승함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6E727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3" name="Google Shape;633;p28"/>
          <p:cNvGrpSpPr/>
          <p:nvPr/>
        </p:nvGrpSpPr>
        <p:grpSpPr>
          <a:xfrm>
            <a:off x="12418809" y="2712187"/>
            <a:ext cx="4840491" cy="6546113"/>
            <a:chOff x="0" y="-38100"/>
            <a:chExt cx="1274862" cy="1724079"/>
          </a:xfrm>
        </p:grpSpPr>
        <p:sp>
          <p:nvSpPr>
            <p:cNvPr id="634" name="Google Shape;634;p28"/>
            <p:cNvSpPr/>
            <p:nvPr/>
          </p:nvSpPr>
          <p:spPr>
            <a:xfrm>
              <a:off x="0" y="0"/>
              <a:ext cx="1274862" cy="1685979"/>
            </a:xfrm>
            <a:custGeom>
              <a:rect b="b" l="l" r="r" t="t"/>
              <a:pathLst>
                <a:path extrusionOk="0" h="1685979" w="1274862">
                  <a:moveTo>
                    <a:pt x="0" y="0"/>
                  </a:moveTo>
                  <a:lnTo>
                    <a:pt x="1274862" y="0"/>
                  </a:lnTo>
                  <a:lnTo>
                    <a:pt x="1274862" y="1685979"/>
                  </a:lnTo>
                  <a:lnTo>
                    <a:pt x="0" y="1685979"/>
                  </a:lnTo>
                  <a:close/>
                </a:path>
              </a:pathLst>
            </a:custGeom>
            <a:solidFill>
              <a:srgbClr val="F1EFEF"/>
            </a:solidFill>
            <a:ln cap="sq" cmpd="sng" w="9525">
              <a:solidFill>
                <a:srgbClr val="6E727B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35" name="Google Shape;635;p28"/>
            <p:cNvSpPr txBox="1"/>
            <p:nvPr/>
          </p:nvSpPr>
          <p:spPr>
            <a:xfrm>
              <a:off x="0" y="-38100"/>
              <a:ext cx="1274862" cy="1724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6" name="Google Shape;636;p28"/>
          <p:cNvGrpSpPr/>
          <p:nvPr/>
        </p:nvGrpSpPr>
        <p:grpSpPr>
          <a:xfrm>
            <a:off x="12418809" y="2687604"/>
            <a:ext cx="4840491" cy="1220992"/>
            <a:chOff x="0" y="-28575"/>
            <a:chExt cx="1274862" cy="321578"/>
          </a:xfrm>
        </p:grpSpPr>
        <p:sp>
          <p:nvSpPr>
            <p:cNvPr id="637" name="Google Shape;637;p28"/>
            <p:cNvSpPr/>
            <p:nvPr/>
          </p:nvSpPr>
          <p:spPr>
            <a:xfrm>
              <a:off x="0" y="0"/>
              <a:ext cx="1274862" cy="293003"/>
            </a:xfrm>
            <a:custGeom>
              <a:rect b="b" l="l" r="r" t="t"/>
              <a:pathLst>
                <a:path extrusionOk="0" h="293003" w="1274862">
                  <a:moveTo>
                    <a:pt x="0" y="0"/>
                  </a:moveTo>
                  <a:lnTo>
                    <a:pt x="1274862" y="0"/>
                  </a:lnTo>
                  <a:lnTo>
                    <a:pt x="1274862" y="293003"/>
                  </a:lnTo>
                  <a:lnTo>
                    <a:pt x="0" y="293003"/>
                  </a:lnTo>
                  <a:close/>
                </a:path>
              </a:pathLst>
            </a:custGeom>
            <a:solidFill>
              <a:srgbClr val="6E727B"/>
            </a:solidFill>
            <a:ln>
              <a:noFill/>
            </a:ln>
          </p:spPr>
        </p:sp>
        <p:sp>
          <p:nvSpPr>
            <p:cNvPr id="638" name="Google Shape;638;p28"/>
            <p:cNvSpPr txBox="1"/>
            <p:nvPr/>
          </p:nvSpPr>
          <p:spPr>
            <a:xfrm>
              <a:off x="0" y="-28575"/>
              <a:ext cx="1274862" cy="321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0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9" name="Google Shape;639;p28"/>
          <p:cNvSpPr txBox="1"/>
          <p:nvPr/>
        </p:nvSpPr>
        <p:spPr>
          <a:xfrm>
            <a:off x="12534220" y="2883083"/>
            <a:ext cx="4609668" cy="957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GDP와 메달 데이터의 관계</a:t>
            </a:r>
            <a:endParaRPr/>
          </a:p>
        </p:txBody>
      </p:sp>
      <p:sp>
        <p:nvSpPr>
          <p:cNvPr id="640" name="Google Shape;640;p28"/>
          <p:cNvSpPr txBox="1"/>
          <p:nvPr/>
        </p:nvSpPr>
        <p:spPr>
          <a:xfrm>
            <a:off x="12533109" y="3997325"/>
            <a:ext cx="4609668" cy="202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GDP 성장률과</a:t>
            </a:r>
            <a:endParaRPr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메달 점유율 사이에는</a:t>
            </a:r>
            <a:endParaRPr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직접적인 상관관계가</a:t>
            </a:r>
            <a:endParaRPr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거의 나타나지 않음</a:t>
            </a:r>
            <a:endParaRPr/>
          </a:p>
        </p:txBody>
      </p:sp>
      <p:sp>
        <p:nvSpPr>
          <p:cNvPr id="641" name="Google Shape;641;p28"/>
          <p:cNvSpPr txBox="1"/>
          <p:nvPr/>
        </p:nvSpPr>
        <p:spPr>
          <a:xfrm>
            <a:off x="7236529" y="4776618"/>
            <a:ext cx="4609668" cy="3486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올림픽으로 인한 GDP 성장률</a:t>
            </a:r>
            <a:endParaRPr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6E727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 하계 : 올림픽으로 인해 GDP 가 증가하는 추세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6E727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E727B"/>
                </a:solidFill>
                <a:latin typeface="Arial"/>
                <a:ea typeface="Arial"/>
                <a:cs typeface="Arial"/>
                <a:sym typeface="Arial"/>
              </a:rPr>
              <a:t>동계 : 올림픽과 무관</a:t>
            </a:r>
            <a:endParaRPr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6E727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2" name="Google Shape;642;p28"/>
          <p:cNvGrpSpPr/>
          <p:nvPr/>
        </p:nvGrpSpPr>
        <p:grpSpPr>
          <a:xfrm>
            <a:off x="12647409" y="6491753"/>
            <a:ext cx="4378457" cy="2579096"/>
            <a:chOff x="0" y="-104775"/>
            <a:chExt cx="673148" cy="396512"/>
          </a:xfrm>
        </p:grpSpPr>
        <p:sp>
          <p:nvSpPr>
            <p:cNvPr id="643" name="Google Shape;643;p28"/>
            <p:cNvSpPr/>
            <p:nvPr/>
          </p:nvSpPr>
          <p:spPr>
            <a:xfrm>
              <a:off x="0" y="0"/>
              <a:ext cx="673148" cy="291737"/>
            </a:xfrm>
            <a:custGeom>
              <a:rect b="b" l="l" r="r" t="t"/>
              <a:pathLst>
                <a:path extrusionOk="0" h="291737" w="673148">
                  <a:moveTo>
                    <a:pt x="0" y="0"/>
                  </a:moveTo>
                  <a:lnTo>
                    <a:pt x="673148" y="0"/>
                  </a:lnTo>
                  <a:lnTo>
                    <a:pt x="673148" y="291737"/>
                  </a:lnTo>
                  <a:lnTo>
                    <a:pt x="0" y="291737"/>
                  </a:lnTo>
                  <a:close/>
                </a:path>
              </a:pathLst>
            </a:custGeom>
            <a:solidFill>
              <a:srgbClr val="3D415C"/>
            </a:solidFill>
            <a:ln>
              <a:noFill/>
            </a:ln>
          </p:spPr>
        </p:sp>
        <p:sp>
          <p:nvSpPr>
            <p:cNvPr id="644" name="Google Shape;644;p28"/>
            <p:cNvSpPr txBox="1"/>
            <p:nvPr/>
          </p:nvSpPr>
          <p:spPr>
            <a:xfrm>
              <a:off x="0" y="-104775"/>
              <a:ext cx="673148" cy="3965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4650" lIns="94650" spcFirstLastPara="1" rIns="94650" wrap="square" tIns="9465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메달 점유율의 상관 관계는</a:t>
              </a:r>
              <a:endParaRPr/>
            </a:p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선수 수, 엘리트 선수 풀 등</a:t>
              </a:r>
              <a:endParaRPr/>
            </a:p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다른 변수를 고려해야 함</a:t>
              </a:r>
              <a:endParaRPr/>
            </a:p>
          </p:txBody>
        </p:sp>
      </p:grpSp>
      <p:grpSp>
        <p:nvGrpSpPr>
          <p:cNvPr id="645" name="Google Shape;645;p28"/>
          <p:cNvGrpSpPr/>
          <p:nvPr/>
        </p:nvGrpSpPr>
        <p:grpSpPr>
          <a:xfrm rot="5400000">
            <a:off x="14389546" y="6224905"/>
            <a:ext cx="899017" cy="899017"/>
            <a:chOff x="0" y="0"/>
            <a:chExt cx="812800" cy="812800"/>
          </a:xfrm>
        </p:grpSpPr>
        <p:sp>
          <p:nvSpPr>
            <p:cNvPr id="646" name="Google Shape;646;p2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647" name="Google Shape;647;p28"/>
            <p:cNvSpPr txBox="1"/>
            <p:nvPr/>
          </p:nvSpPr>
          <p:spPr>
            <a:xfrm>
              <a:off x="0" y="136525"/>
              <a:ext cx="711200" cy="473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65A62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2" name="Google Shape;652;p29"/>
          <p:cNvCxnSpPr/>
          <p:nvPr/>
        </p:nvCxnSpPr>
        <p:spPr>
          <a:xfrm rot="10800000">
            <a:off x="740032" y="430923"/>
            <a:ext cx="0" cy="9425155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3" name="Google Shape;653;p29"/>
          <p:cNvSpPr txBox="1"/>
          <p:nvPr/>
        </p:nvSpPr>
        <p:spPr>
          <a:xfrm>
            <a:off x="1761915" y="3994185"/>
            <a:ext cx="11589715" cy="1149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654" name="Google Shape;654;p29"/>
          <p:cNvSpPr txBox="1"/>
          <p:nvPr/>
        </p:nvSpPr>
        <p:spPr>
          <a:xfrm>
            <a:off x="1877990" y="5181600"/>
            <a:ext cx="11589715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감사합니다.</a:t>
            </a:r>
            <a:endParaRPr/>
          </a:p>
        </p:txBody>
      </p:sp>
      <p:sp>
        <p:nvSpPr>
          <p:cNvPr id="655" name="Google Shape;655;p29"/>
          <p:cNvSpPr txBox="1"/>
          <p:nvPr/>
        </p:nvSpPr>
        <p:spPr>
          <a:xfrm rot="-5400000">
            <a:off x="-1309074" y="2210836"/>
            <a:ext cx="3614341" cy="29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2030.10.1</a:t>
            </a:r>
            <a:endParaRPr/>
          </a:p>
        </p:txBody>
      </p:sp>
      <p:sp>
        <p:nvSpPr>
          <p:cNvPr id="656" name="Google Shape;656;p29"/>
          <p:cNvSpPr txBox="1"/>
          <p:nvPr/>
        </p:nvSpPr>
        <p:spPr>
          <a:xfrm rot="-5400000">
            <a:off x="-1309074" y="7781136"/>
            <a:ext cx="3614341" cy="29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BUSINESS PROPOSAL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